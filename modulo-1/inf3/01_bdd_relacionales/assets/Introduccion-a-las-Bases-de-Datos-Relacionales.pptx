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nton"/>
      <p:regular r:id="rId201314"/>
    </p:embeddedFont>
    <p:embeddedFont>
      <p:font typeface="Fira Sans"/>
      <p:regular r:id="rId201315"/>
    </p:embeddedFont>
    <p:embeddedFont>
      <p:font typeface="Fira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579885"/>
            <a:ext cx="1012180" cy="215354"/>
          </a:xfrm>
          <a:prstGeom prst="roundRect">
            <a:avLst>
              <a:gd name="adj" fmla="val 7900"/>
            </a:avLst>
          </a:prstGeom>
          <a:solidFill>
            <a:srgbClr val="490315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622375"/>
            <a:ext cx="129927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TEMA 1 — CLASE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85194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Introducción a las Bases de Datos Relacionales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50518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 caos de los datos desordenados a la información estructurada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Conceptos clave: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Entidades, Tablas, Registros, Campos y Claves.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0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¿Por qué necesitamos ordenar los datos?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260425"/>
            <a:ext cx="26282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Sin estructura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637928"/>
            <a:ext cx="2628230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Una lista desordenada mezcla nombres, productos y precios en un solo texto: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i="1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"Juan compró pan $50 el lunes, María compró leche..."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 imposible buscar, filtrar o actualizar datos de forma eficiente.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3268117"/>
            <a:ext cx="26282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Con estructura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3645619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Una tabla con encabezados claros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Cliente, Producto, Precio, Fecha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permite consultar, modificar y relacionar la información sin errores.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49920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2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¿Qué es una Base de Datos Relacional?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1087636"/>
            <a:ext cx="47227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 conjunto de datos organizados en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spc="-19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tablas interconectadas</a:t>
            </a:r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que evita la duplicación de información y permite consultar datos de forma eficiente y consistente.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567755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3E3E3E"/>
          </a:solidFill>
          <a:ln/>
        </p:spPr>
      </p:sp>
      <p:sp>
        <p:nvSpPr>
          <p:cNvPr id="6" name="Text 3"/>
          <p:cNvSpPr/>
          <p:nvPr/>
        </p:nvSpPr>
        <p:spPr>
          <a:xfrm>
            <a:off x="4046934" y="1689571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Entidad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46934" y="1942728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Objeto del mundo real sobre el que guardamos información. Ej: </a:t>
            </a:r>
            <a:pPr algn="l" indent="0" marL="0">
              <a:lnSpc>
                <a:spcPct val="124000"/>
              </a:lnSpc>
              <a:buNone/>
            </a:pPr>
            <a:r>
              <a:rPr lang="en-US" sz="950" i="1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Cliente, Producto.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5119" y="2350368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4046934" y="2472184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Tabla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46934" y="2725341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representación digital de una entidad dentro de la base de datos.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3132981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4046934" y="3254797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Registro (Fila)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46934" y="3507953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 elemento individual almacenado en la tabla. También llamado </a:t>
            </a:r>
            <a:pPr algn="l" indent="0" marL="0">
              <a:lnSpc>
                <a:spcPct val="124000"/>
              </a:lnSpc>
              <a:buNone/>
            </a:pPr>
            <a:r>
              <a:rPr lang="en-US" sz="950" i="1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tupla.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915594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3E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4046934" y="4037409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Campo (Columna)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46934" y="4290566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Cada característica o propiedad del elemento. También llamado </a:t>
            </a:r>
            <a:pPr algn="l" indent="0" marL="0">
              <a:lnSpc>
                <a:spcPct val="124000"/>
              </a:lnSpc>
              <a:buNone/>
            </a:pPr>
            <a:r>
              <a:rPr lang="en-US" sz="950" i="1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atributo.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056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Anatomía de una Tabla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4706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tabla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Clientes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representa la entidad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Cliente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Cada fila es un registro único y cada columna es un atributo.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33352"/>
            <a:ext cx="8151763" cy="1243161"/>
          </a:xfrm>
          <a:prstGeom prst="roundRect">
            <a:avLst>
              <a:gd name="adj" fmla="val 171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351708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762920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29433" y="1933352"/>
            <a:ext cx="8860" cy="12431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64955" y="1933352"/>
            <a:ext cx="8860" cy="12431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07597" y="1933352"/>
            <a:ext cx="8860" cy="12431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030" y="1938114"/>
            <a:ext cx="1628403" cy="413593"/>
          </a:xfrm>
          <a:custGeom>
            <a:avLst/>
            <a:gdLst/>
            <a:ahLst/>
            <a:cxnLst/>
            <a:rect l="l" t="t" r="r" b="b"/>
            <a:pathLst>
              <a:path w="1628403" h="413593">
                <a:moveTo>
                  <a:pt x="17721" y="0"/>
                </a:moveTo>
                <a:lnTo>
                  <a:pt x="1628403" y="0"/>
                </a:lnTo>
                <a:lnTo>
                  <a:pt x="1628403" y="413593"/>
                </a:lnTo>
                <a:lnTo>
                  <a:pt x="0" y="413593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11" name="Text 9"/>
          <p:cNvSpPr/>
          <p:nvPr/>
        </p:nvSpPr>
        <p:spPr>
          <a:xfrm>
            <a:off x="642789" y="2027932"/>
            <a:ext cx="17997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🔑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 id_cliente (PK)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29433" y="1938114"/>
            <a:ext cx="2035522" cy="413593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3" name="Text 11"/>
          <p:cNvSpPr/>
          <p:nvPr/>
        </p:nvSpPr>
        <p:spPr>
          <a:xfrm>
            <a:off x="2273573" y="2027932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nombre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4955" y="1938114"/>
            <a:ext cx="2442642" cy="413593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5" name="Text 13"/>
          <p:cNvSpPr/>
          <p:nvPr/>
        </p:nvSpPr>
        <p:spPr>
          <a:xfrm>
            <a:off x="4309095" y="2027932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email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7597" y="1938114"/>
            <a:ext cx="2035522" cy="413593"/>
          </a:xfrm>
          <a:custGeom>
            <a:avLst/>
            <a:gdLst/>
            <a:ahLst/>
            <a:cxnLst/>
            <a:rect l="l" t="t" r="r" b="b"/>
            <a:pathLst>
              <a:path w="2035522" h="413593">
                <a:moveTo>
                  <a:pt x="0" y="0"/>
                </a:moveTo>
                <a:lnTo>
                  <a:pt x="2017801" y="0"/>
                </a:lnTo>
                <a:arcTo hR="17721" wR="17721" stAng="16200000" swAng="5400000"/>
                <a:lnTo>
                  <a:pt x="2035522" y="413593"/>
                </a:lnTo>
                <a:lnTo>
                  <a:pt x="0" y="413593"/>
                </a:lnTo>
                <a:lnTo>
                  <a:pt x="0" y="0"/>
                </a:lnTo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17" name="Text 15"/>
          <p:cNvSpPr/>
          <p:nvPr/>
        </p:nvSpPr>
        <p:spPr>
          <a:xfrm>
            <a:off x="6751737" y="2027932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ciudad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89" y="244390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101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73573" y="2443907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 Gómez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09095" y="2443907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ana@email.com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51737" y="244390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Madrid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789" y="285511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102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73573" y="2855119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Carlos Ruiz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09095" y="2855119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carlos@email.com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51737" y="285511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Lima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3340373"/>
            <a:ext cx="212601" cy="21260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56816" y="3335982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Entidad →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56816" y="364249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tabla completa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Clientes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representa un concepto del mundo real.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564" y="3340373"/>
            <a:ext cx="212601" cy="21260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733130" y="3335982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Registro (Fila) →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3733130" y="3642494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fila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101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es un cliente concreto con todos sus datos.</a:t>
            </a:r>
            <a:endParaRPr lang="en-US" sz="11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879" y="3340373"/>
            <a:ext cx="212601" cy="21260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09445" y="3335982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Campo (Columna) →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6509445" y="364249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columna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email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almacena una propiedad común a todos los clientes.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7034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Clave Primaria (Primary Key — PK)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987326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spc="-20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identificador único e irrepetible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cada registro en una tabla. Sin PK, no es posible distinguir un registro de otro con certeza.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81435"/>
            <a:ext cx="2307134" cy="1274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04271" y="157445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spc="-10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063380" y="1977554"/>
            <a:ext cx="20306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Única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063380" y="2236515"/>
            <a:ext cx="20306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pueden existir dos filas con el mismo valor de PK.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0748" y="1481435"/>
            <a:ext cx="2307134" cy="12749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19901" y="157445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spc="-10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479009" y="1977554"/>
            <a:ext cx="20306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 Nula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79009" y="2236515"/>
            <a:ext cx="2030611" cy="381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Nunca puede quedar vacía (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864867"/>
            <a:ext cx="4722763" cy="10793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2086" y="2957885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spc="-10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063380" y="3360986"/>
            <a:ext cx="44462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Invariable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063380" y="3619946"/>
            <a:ext cx="444624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Rara vez cambia con el tiempo. Su valor debe ser estable.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3925119" y="4066282"/>
            <a:ext cx="4722763" cy="640110"/>
          </a:xfrm>
          <a:prstGeom prst="roundRect">
            <a:avLst>
              <a:gd name="adj" fmla="val 2907"/>
            </a:avLst>
          </a:prstGeom>
          <a:solidFill>
            <a:srgbClr val="7A062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9092" y="4225826"/>
            <a:ext cx="155004" cy="1239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28071" y="4205734"/>
            <a:ext cx="4195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Ejemplos del mundo real: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DNI / Cédula, RFC, Matrícula estudiantil, Código SKU, Número de Seguro Social.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8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Clave Primaria en Acción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348"/>
            <a:ext cx="8608963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columna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id_estudiante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actúa como PK: identifica de forma única a cada estudiante sin ambigüedad.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04156"/>
            <a:ext cx="8151763" cy="1654373"/>
          </a:xfrm>
          <a:prstGeom prst="roundRect">
            <a:avLst>
              <a:gd name="adj" fmla="val 128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122512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33724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944937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350716" y="1704156"/>
            <a:ext cx="8860" cy="16543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07597" y="1704156"/>
            <a:ext cx="8860" cy="16543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0955" y="1708919"/>
            <a:ext cx="2849761" cy="413593"/>
          </a:xfrm>
          <a:custGeom>
            <a:avLst/>
            <a:gdLst/>
            <a:ahLst/>
            <a:cxnLst/>
            <a:rect l="l" t="t" r="r" b="b"/>
            <a:pathLst>
              <a:path w="2849761" h="413593">
                <a:moveTo>
                  <a:pt x="17721" y="0"/>
                </a:moveTo>
                <a:lnTo>
                  <a:pt x="2849761" y="0"/>
                </a:lnTo>
                <a:lnTo>
                  <a:pt x="2849761" y="413593"/>
                </a:lnTo>
                <a:lnTo>
                  <a:pt x="0" y="413593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1798737"/>
            <a:ext cx="302106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🔑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 id_estudiante (PK)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0716" y="1708919"/>
            <a:ext cx="3256880" cy="413593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3" name="Text 11"/>
          <p:cNvSpPr/>
          <p:nvPr/>
        </p:nvSpPr>
        <p:spPr>
          <a:xfrm>
            <a:off x="3494856" y="1798737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nombre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07597" y="1708919"/>
            <a:ext cx="2035522" cy="413593"/>
          </a:xfrm>
          <a:custGeom>
            <a:avLst/>
            <a:gdLst/>
            <a:ahLst/>
            <a:cxnLst/>
            <a:rect l="l" t="t" r="r" b="b"/>
            <a:pathLst>
              <a:path w="2035522" h="413593">
                <a:moveTo>
                  <a:pt x="0" y="0"/>
                </a:moveTo>
                <a:lnTo>
                  <a:pt x="2017801" y="0"/>
                </a:lnTo>
                <a:arcTo hR="17721" wR="17721" stAng="16200000" swAng="5400000"/>
                <a:lnTo>
                  <a:pt x="2035522" y="413593"/>
                </a:lnTo>
                <a:lnTo>
                  <a:pt x="0" y="413593"/>
                </a:lnTo>
                <a:lnTo>
                  <a:pt x="0" y="0"/>
                </a:lnTo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15" name="Text 13"/>
          <p:cNvSpPr/>
          <p:nvPr/>
        </p:nvSpPr>
        <p:spPr>
          <a:xfrm>
            <a:off x="6751737" y="179873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2214711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EST-01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4856" y="2214711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Laura Torres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51737" y="221471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45892011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2625923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EST-02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4856" y="2625923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Pedro Marín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51737" y="2625923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33104922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714" y="3037136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EST-03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4856" y="3037136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Valeria Costa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51737" y="3037136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77210345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6119" y="3517999"/>
            <a:ext cx="8151763" cy="1043657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26" name="Shape 24"/>
          <p:cNvSpPr/>
          <p:nvPr/>
        </p:nvSpPr>
        <p:spPr>
          <a:xfrm>
            <a:off x="496119" y="3517999"/>
            <a:ext cx="4075881" cy="1043657"/>
          </a:xfrm>
          <a:custGeom>
            <a:avLst/>
            <a:gdLst/>
            <a:ahLst/>
            <a:cxnLst/>
            <a:rect l="l" t="t" r="r" b="b"/>
            <a:pathLst>
              <a:path w="4075881" h="1043657">
                <a:moveTo>
                  <a:pt x="17721" y="0"/>
                </a:moveTo>
                <a:lnTo>
                  <a:pt x="4075881" y="0"/>
                </a:lnTo>
                <a:lnTo>
                  <a:pt x="4075881" y="1043657"/>
                </a:lnTo>
                <a:lnTo>
                  <a:pt x="17721" y="1043657"/>
                </a:lnTo>
                <a:arcTo hR="17721" wR="17721" stAng="5400000" swAng="5400000"/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27" name="Text 25"/>
          <p:cNvSpPr/>
          <p:nvPr/>
        </p:nvSpPr>
        <p:spPr>
          <a:xfrm>
            <a:off x="637877" y="3659758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¿Por qué no usar el nombre como PK?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7877" y="3966270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Puede haber dos estudiantes llamados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"Ana López"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El nombre no es único ni estable.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517999"/>
            <a:ext cx="4075881" cy="1043657"/>
          </a:xfrm>
          <a:custGeom>
            <a:avLst/>
            <a:gdLst/>
            <a:ahLst/>
            <a:cxnLst/>
            <a:rect l="l" t="t" r="r" b="b"/>
            <a:pathLst>
              <a:path w="4075881" h="1043657">
                <a:moveTo>
                  <a:pt x="0" y="0"/>
                </a:moveTo>
                <a:lnTo>
                  <a:pt x="4058161" y="0"/>
                </a:lnTo>
                <a:arcTo hR="17721" wR="17721" stAng="16200000" swAng="5400000"/>
                <a:lnTo>
                  <a:pt x="4075881" y="1025936"/>
                </a:lnTo>
                <a:arcTo hR="17721" wR="17721" stAng="0" swAng="5400000"/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3517999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31" name="Text 29"/>
          <p:cNvSpPr/>
          <p:nvPr/>
        </p:nvSpPr>
        <p:spPr>
          <a:xfrm>
            <a:off x="4713759" y="3659758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¿Por qué no usar el DNI?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13759" y="3966270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Aunque es único, en algunos países puede cambiar o no estar disponible para todos los registros.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Clave Foránea (Foreign Key — FK)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90763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spc="-7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¿Qué es?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442642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 campo en una tabla que hace referencia a la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spc="-1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Clave Primaria (PK)</a:t>
            </a:r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otra tabla.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56884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spc="-7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¿Para qué sirve?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720727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Crear la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spc="-1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relación</a:t>
            </a:r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entre dos tablas sin repetir toda la información del objeto de origen. Sabemos a quién pertenece un pedido sin duplicar su nombre, dirección ni correo.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96119" y="2940174"/>
            <a:ext cx="3986733" cy="192732"/>
          </a:xfrm>
          <a:prstGeom prst="roundRect">
            <a:avLst>
              <a:gd name="adj" fmla="val 5689"/>
            </a:avLst>
          </a:prstGeom>
          <a:solidFill>
            <a:srgbClr val="0223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2998738"/>
            <a:ext cx="91306" cy="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3574" y="2992264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FK garantiza la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spc="-12" kern="0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integridad referencial</a:t>
            </a:r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no se puede referenciar un registro que no existe.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54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Relación entre Tablas: Un Ejemplo Real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41983"/>
            <a:ext cx="8608963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FK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Pedidos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apunta a la PK en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Clientes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Así sabemos quién hizo cada pedido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sin repetir datos.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795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Tabla: Clientes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6119" y="2260476"/>
            <a:ext cx="3902943" cy="1243161"/>
          </a:xfrm>
          <a:prstGeom prst="roundRect">
            <a:avLst>
              <a:gd name="adj" fmla="val 171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678832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90044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058293" y="2260476"/>
            <a:ext cx="8860" cy="12431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0955" y="2265238"/>
            <a:ext cx="1557338" cy="413593"/>
          </a:xfrm>
          <a:custGeom>
            <a:avLst/>
            <a:gdLst/>
            <a:ahLst/>
            <a:cxnLst/>
            <a:rect l="l" t="t" r="r" b="b"/>
            <a:pathLst>
              <a:path w="1557338" h="413593">
                <a:moveTo>
                  <a:pt x="17721" y="0"/>
                </a:moveTo>
                <a:lnTo>
                  <a:pt x="1557338" y="0"/>
                </a:lnTo>
                <a:lnTo>
                  <a:pt x="1557338" y="413593"/>
                </a:lnTo>
                <a:lnTo>
                  <a:pt x="0" y="413593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10" name="Text 8"/>
          <p:cNvSpPr/>
          <p:nvPr/>
        </p:nvSpPr>
        <p:spPr>
          <a:xfrm>
            <a:off x="642714" y="2355056"/>
            <a:ext cx="1728639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🔑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 id_cliente (PK)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8293" y="2265238"/>
            <a:ext cx="2336006" cy="413593"/>
          </a:xfrm>
          <a:custGeom>
            <a:avLst/>
            <a:gdLst/>
            <a:ahLst/>
            <a:cxnLst/>
            <a:rect l="l" t="t" r="r" b="b"/>
            <a:pathLst>
              <a:path w="2336006" h="413593">
                <a:moveTo>
                  <a:pt x="0" y="0"/>
                </a:moveTo>
                <a:lnTo>
                  <a:pt x="2318285" y="0"/>
                </a:lnTo>
                <a:arcTo hR="17721" wR="17721" stAng="16200000" swAng="5400000"/>
                <a:lnTo>
                  <a:pt x="2336006" y="413593"/>
                </a:lnTo>
                <a:lnTo>
                  <a:pt x="0" y="413593"/>
                </a:lnTo>
                <a:lnTo>
                  <a:pt x="0" y="0"/>
                </a:lnTo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12" name="Text 10"/>
          <p:cNvSpPr/>
          <p:nvPr/>
        </p:nvSpPr>
        <p:spPr>
          <a:xfrm>
            <a:off x="2202433" y="2355056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nombre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2771031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C-01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02433" y="2771031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Sofía Pérez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182243"/>
            <a:ext cx="17286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02433" y="3182243"/>
            <a:ext cx="2507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Marco Díaz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9701" y="18795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Tabla: Pedidos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49701" y="2260476"/>
            <a:ext cx="3902943" cy="2108002"/>
          </a:xfrm>
          <a:prstGeom prst="roundRect">
            <a:avLst>
              <a:gd name="adj" fmla="val 100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9701" y="3132460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49701" y="3543672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49701" y="3954884"/>
            <a:ext cx="390294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17208" y="2260476"/>
            <a:ext cx="8860" cy="210800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74546" y="2260476"/>
            <a:ext cx="8860" cy="210800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54538" y="2265238"/>
            <a:ext cx="1362670" cy="867221"/>
          </a:xfrm>
          <a:custGeom>
            <a:avLst/>
            <a:gdLst/>
            <a:ahLst/>
            <a:cxnLst/>
            <a:rect l="l" t="t" r="r" b="b"/>
            <a:pathLst>
              <a:path w="1362670" h="867221">
                <a:moveTo>
                  <a:pt x="17721" y="0"/>
                </a:moveTo>
                <a:lnTo>
                  <a:pt x="1362670" y="0"/>
                </a:lnTo>
                <a:lnTo>
                  <a:pt x="1362670" y="867221"/>
                </a:lnTo>
                <a:lnTo>
                  <a:pt x="0" y="867221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25" name="Text 23"/>
          <p:cNvSpPr/>
          <p:nvPr/>
        </p:nvSpPr>
        <p:spPr>
          <a:xfrm>
            <a:off x="4896296" y="2355056"/>
            <a:ext cx="153397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🔑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 id_pedido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17208" y="2265238"/>
            <a:ext cx="1557338" cy="867221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27" name="Text 25"/>
          <p:cNvSpPr/>
          <p:nvPr/>
        </p:nvSpPr>
        <p:spPr>
          <a:xfrm>
            <a:off x="6261348" y="2355056"/>
            <a:ext cx="17262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fecha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74546" y="2265238"/>
            <a:ext cx="973336" cy="867221"/>
          </a:xfrm>
          <a:custGeom>
            <a:avLst/>
            <a:gdLst/>
            <a:ahLst/>
            <a:cxnLst/>
            <a:rect l="l" t="t" r="r" b="b"/>
            <a:pathLst>
              <a:path w="973336" h="867221">
                <a:moveTo>
                  <a:pt x="0" y="0"/>
                </a:moveTo>
                <a:lnTo>
                  <a:pt x="955615" y="0"/>
                </a:lnTo>
                <a:arcTo hR="17721" wR="17721" stAng="16200000" swAng="5400000"/>
                <a:lnTo>
                  <a:pt x="973336" y="867221"/>
                </a:lnTo>
                <a:lnTo>
                  <a:pt x="0" y="867221"/>
                </a:lnTo>
                <a:lnTo>
                  <a:pt x="0" y="0"/>
                </a:lnTo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686" y="2355056"/>
            <a:ext cx="687437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🔗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 id_cliente (FK)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6296" y="3224659"/>
            <a:ext cx="15339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P-1001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1348" y="3224659"/>
            <a:ext cx="17262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2026-03-10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18686" y="3224659"/>
            <a:ext cx="11446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C-01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6296" y="3635871"/>
            <a:ext cx="15339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P-1002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1348" y="3635871"/>
            <a:ext cx="17262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2026-03-11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18686" y="3635871"/>
            <a:ext cx="11446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C-02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6296" y="4047083"/>
            <a:ext cx="15339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P-1003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1348" y="4047083"/>
            <a:ext cx="17262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2026-03-12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686" y="4047083"/>
            <a:ext cx="11446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C-01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2237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5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Problema de la Redundancia de Datos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25119" y="1349946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Almacenar el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spc="-20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mismo dato múltiples veces</a:t>
            </a:r>
            <a:pPr algn="l" indent="0" marL="0">
              <a:lnSpc>
                <a:spcPct val="126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en un sistema genera tres problemas críticos.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858342"/>
            <a:ext cx="2305124" cy="1581150"/>
          </a:xfrm>
          <a:prstGeom prst="roundRect">
            <a:avLst>
              <a:gd name="adj" fmla="val 1198"/>
            </a:avLst>
          </a:prstGeom>
          <a:solidFill>
            <a:srgbClr val="3E3E3E"/>
          </a:solidFill>
          <a:ln/>
        </p:spPr>
      </p:sp>
      <p:sp>
        <p:nvSpPr>
          <p:cNvPr id="6" name="Shape 3"/>
          <p:cNvSpPr/>
          <p:nvPr/>
        </p:nvSpPr>
        <p:spPr>
          <a:xfrm>
            <a:off x="4051325" y="1984549"/>
            <a:ext cx="378768" cy="378768"/>
          </a:xfrm>
          <a:prstGeom prst="ellipse">
            <a:avLst/>
          </a:prstGeom>
          <a:solidFill>
            <a:srgbClr val="FA95A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5504" y="2088654"/>
            <a:ext cx="170408" cy="170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51325" y="2475756"/>
            <a:ext cx="205271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Inconsistencia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051325" y="2740447"/>
            <a:ext cx="205271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 Sofía cambia su teléfono, hay que actualizarlo en 50 filas. Si olvidamos una, los datos entran en conflicto.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342683" y="1858342"/>
            <a:ext cx="2305199" cy="1581150"/>
          </a:xfrm>
          <a:prstGeom prst="roundRect">
            <a:avLst>
              <a:gd name="adj" fmla="val 1198"/>
            </a:avLst>
          </a:prstGeom>
          <a:solidFill>
            <a:srgbClr val="3E3E3E"/>
          </a:solidFill>
          <a:ln/>
        </p:spPr>
      </p:sp>
      <p:sp>
        <p:nvSpPr>
          <p:cNvPr id="11" name="Shape 7"/>
          <p:cNvSpPr/>
          <p:nvPr/>
        </p:nvSpPr>
        <p:spPr>
          <a:xfrm>
            <a:off x="6468889" y="1984549"/>
            <a:ext cx="378768" cy="378768"/>
          </a:xfrm>
          <a:prstGeom prst="ellipse">
            <a:avLst/>
          </a:prstGeom>
          <a:solidFill>
            <a:srgbClr val="FA95A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3069" y="2088654"/>
            <a:ext cx="170408" cy="1704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8889" y="2475756"/>
            <a:ext cx="205278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Desperdicio de espacio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68889" y="2740447"/>
            <a:ext cx="205278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Repetir direcciones y nombres en cada fila ocupa memoria innecesaria.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925119" y="3551932"/>
            <a:ext cx="4722763" cy="1199257"/>
          </a:xfrm>
          <a:prstGeom prst="roundRect">
            <a:avLst>
              <a:gd name="adj" fmla="val 1579"/>
            </a:avLst>
          </a:prstGeom>
          <a:solidFill>
            <a:srgbClr val="3E3E3E"/>
          </a:solidFill>
          <a:ln/>
        </p:spPr>
      </p:sp>
      <p:sp>
        <p:nvSpPr>
          <p:cNvPr id="16" name="Shape 11"/>
          <p:cNvSpPr/>
          <p:nvPr/>
        </p:nvSpPr>
        <p:spPr>
          <a:xfrm>
            <a:off x="4051325" y="3678138"/>
            <a:ext cx="378768" cy="378768"/>
          </a:xfrm>
          <a:prstGeom prst="ellipse">
            <a:avLst/>
          </a:prstGeom>
          <a:solidFill>
            <a:srgbClr val="FA95A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5504" y="3782244"/>
            <a:ext cx="170408" cy="1704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51325" y="4169346"/>
            <a:ext cx="447035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Lentitud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051325" y="4434036"/>
            <a:ext cx="447035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Procesar tablas infladas con datos duplicados reduce el rendimiento del sistema.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57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26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Diseño Incorrecto vs. Diseño Relacional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51111"/>
            <a:ext cx="3916487" cy="2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13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50" spc="-13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Tabla Plana con Redundancia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96119" y="1500262"/>
            <a:ext cx="3916487" cy="2246709"/>
          </a:xfrm>
          <a:prstGeom prst="roundRect">
            <a:avLst>
              <a:gd name="adj" fmla="val 87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63130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623617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84103"/>
            <a:ext cx="3916487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7115" y="1500262"/>
            <a:ext cx="8168" cy="224670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946597" y="1500262"/>
            <a:ext cx="8168" cy="224670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040484" y="1500262"/>
            <a:ext cx="8168" cy="224670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821832" y="1500262"/>
            <a:ext cx="8168" cy="224670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1104" y="1505024"/>
            <a:ext cx="586011" cy="558105"/>
          </a:xfrm>
          <a:custGeom>
            <a:avLst/>
            <a:gdLst/>
            <a:ahLst/>
            <a:cxnLst/>
            <a:rect l="l" t="t" r="r" b="b"/>
            <a:pathLst>
              <a:path w="586011" h="558105">
                <a:moveTo>
                  <a:pt x="16336" y="0"/>
                </a:moveTo>
                <a:lnTo>
                  <a:pt x="586011" y="0"/>
                </a:lnTo>
                <a:lnTo>
                  <a:pt x="586011" y="558105"/>
                </a:lnTo>
                <a:lnTo>
                  <a:pt x="0" y="558105"/>
                </a:lnTo>
                <a:lnTo>
                  <a:pt x="0" y="16336"/>
                </a:lnTo>
                <a:arcTo hR="16336" wR="16336" stAng="10800000" swAng="5400000"/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13" name="Text 11"/>
          <p:cNvSpPr/>
          <p:nvPr/>
        </p:nvSpPr>
        <p:spPr>
          <a:xfrm>
            <a:off x="631775" y="1582043"/>
            <a:ext cx="3222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87115" y="1505024"/>
            <a:ext cx="859482" cy="55810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5" name="Text 13"/>
          <p:cNvSpPr/>
          <p:nvPr/>
        </p:nvSpPr>
        <p:spPr>
          <a:xfrm>
            <a:off x="1220167" y="1582043"/>
            <a:ext cx="105057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cliente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46597" y="1505024"/>
            <a:ext cx="1093887" cy="55810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7" name="Text 15"/>
          <p:cNvSpPr/>
          <p:nvPr/>
        </p:nvSpPr>
        <p:spPr>
          <a:xfrm>
            <a:off x="2079650" y="1582043"/>
            <a:ext cx="128498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cliente_email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40484" y="1505024"/>
            <a:ext cx="781348" cy="558105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9" name="Text 17"/>
          <p:cNvSpPr/>
          <p:nvPr/>
        </p:nvSpPr>
        <p:spPr>
          <a:xfrm>
            <a:off x="3173537" y="1582043"/>
            <a:ext cx="5152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producto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21832" y="1505024"/>
            <a:ext cx="586011" cy="558105"/>
          </a:xfrm>
          <a:custGeom>
            <a:avLst/>
            <a:gdLst/>
            <a:ahLst/>
            <a:cxnLst/>
            <a:rect l="l" t="t" r="r" b="b"/>
            <a:pathLst>
              <a:path w="586011" h="558105">
                <a:moveTo>
                  <a:pt x="0" y="0"/>
                </a:moveTo>
                <a:lnTo>
                  <a:pt x="569674" y="0"/>
                </a:lnTo>
                <a:arcTo hR="16336" wR="16336" stAng="16200000" swAng="5400000"/>
                <a:lnTo>
                  <a:pt x="586011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solidFill>
            <a:srgbClr val="FA95AE"/>
          </a:solidFill>
          <a:ln/>
        </p:spPr>
      </p:sp>
      <p:sp>
        <p:nvSpPr>
          <p:cNvPr id="21" name="Text 19"/>
          <p:cNvSpPr/>
          <p:nvPr/>
        </p:nvSpPr>
        <p:spPr>
          <a:xfrm>
            <a:off x="3954884" y="1582043"/>
            <a:ext cx="3222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precio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775" y="2142530"/>
            <a:ext cx="779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20167" y="2142530"/>
            <a:ext cx="105057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Sofía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79650" y="2142530"/>
            <a:ext cx="8277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sofia@mail.com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73537" y="2142530"/>
            <a:ext cx="9724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Laptop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54884" y="2142530"/>
            <a:ext cx="3222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$1000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1775" y="2703016"/>
            <a:ext cx="779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20167" y="2703016"/>
            <a:ext cx="105057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Sofía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79650" y="2703016"/>
            <a:ext cx="8277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sofia@mail.com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73537" y="2703016"/>
            <a:ext cx="9724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Mouse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54884" y="2703016"/>
            <a:ext cx="779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1775" y="3263503"/>
            <a:ext cx="779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0167" y="3263503"/>
            <a:ext cx="105057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Sofía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79650" y="3263503"/>
            <a:ext cx="8277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FA95AE"/>
                </a:highlight>
                <a:latin typeface="Fira Sans" pitchFamily="34" charset="0"/>
                <a:ea typeface="Fira Sans" pitchFamily="34" charset="-122"/>
                <a:cs typeface="Fira Sans" pitchFamily="34" charset="-120"/>
              </a:rPr>
              <a:t>sofia@gmail.com </a:t>
            </a:r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⚠️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73537" y="3263503"/>
            <a:ext cx="9724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Teclado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54884" y="3263503"/>
            <a:ext cx="779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$45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6119" y="3882479"/>
            <a:ext cx="3916487" cy="683865"/>
          </a:xfrm>
          <a:prstGeom prst="roundRect">
            <a:avLst>
              <a:gd name="adj" fmla="val 2867"/>
            </a:avLst>
          </a:prstGeom>
          <a:solidFill>
            <a:srgbClr val="4B3F02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90" y="4064124"/>
            <a:ext cx="163339" cy="130671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920800" y="4023568"/>
            <a:ext cx="336113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email de Sofía aparece inconsistente en la fila 3. En una tabla plana, esto es difícil de detectar y corregir.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36157" y="1151111"/>
            <a:ext cx="3916487" cy="2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13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50" spc="-13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Solución Relacional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736157" y="1485230"/>
            <a:ext cx="43736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Separar en dos tablas elimina la redundancia: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36157" y="1794495"/>
            <a:ext cx="3916487" cy="448568"/>
          </a:xfrm>
          <a:prstGeom prst="rect">
            <a:avLst/>
          </a:prstGeom>
          <a:noFill/>
          <a:ln/>
        </p:spPr>
        <p:txBody>
          <a:bodyPr wrap="square" lIns="0" tIns="52277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Clientes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guarda los datos del cliente 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i="1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una sola vez.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Pedidos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solo almacena la FK 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736157" y="2351484"/>
            <a:ext cx="39164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Cualquier cambio en los datos del cliente se refleja automáticamente en todos sus pedidos.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2026-08-16T20:09:34Z</dcterms:created>
  <dcterms:modified xsi:type="dcterms:W3CDTF">2026-08-16T20:09:34Z</dcterms:modified>
</cp:coreProperties>
</file>