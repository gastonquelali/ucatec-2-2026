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embeddedFontLst>
    <p:embeddedFont>
      <p:font typeface="Anton"/>
      <p:regular r:id="rId201314"/>
    </p:embeddedFont>
    <p:embeddedFont>
      <p:font typeface="Fira Sans"/>
      <p:regular r:id="rId201315"/>
    </p:embeddedFont>
    <p:embeddedFont>
      <p:font typeface="Fira Sans Bold"/>
      <p:regular r:id="rId201316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Relationship Id="rId201318" Target="fonts/201318.fntdata" Type="http://schemas.openxmlformats.org/officeDocument/2006/relationships/font"/><Relationship Id="rId201319" Target="fonts/201319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2121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F1F1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image" Target="../media/image-2-2.jpeg"/><Relationship Id="rId3" Type="http://schemas.openxmlformats.org/officeDocument/2006/relationships/image" Target="../media/image-2-3.jpe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svg"/><Relationship Id="rId3" Type="http://schemas.openxmlformats.org/officeDocument/2006/relationships/image" Target="../media/image-3-1.png"/><Relationship Id="rId4" Type="http://schemas.openxmlformats.org/officeDocument/2006/relationships/image" Target="../media/image-3-2.svg"/><Relationship Id="rId5" Type="http://schemas.openxmlformats.org/officeDocument/2006/relationships/image" Target="../media/image-3-1.png"/><Relationship Id="rId6" Type="http://schemas.openxmlformats.org/officeDocument/2006/relationships/image" Target="../media/image-3-2.sv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jpe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e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eg"/><Relationship Id="rId2" Type="http://schemas.openxmlformats.org/officeDocument/2006/relationships/image" Target="../media/image-9-2.png"/><Relationship Id="rId3" Type="http://schemas.openxmlformats.org/officeDocument/2006/relationships/image" Target="../media/image-9-3.svg"/><Relationship Id="rId4" Type="http://schemas.openxmlformats.org/officeDocument/2006/relationships/image" Target="../media/image-9-4.png"/><Relationship Id="rId5" Type="http://schemas.openxmlformats.org/officeDocument/2006/relationships/image" Target="../media/image-9-5.svg"/><Relationship Id="rId6" Type="http://schemas.openxmlformats.org/officeDocument/2006/relationships/image" Target="../media/image-9-6.png"/><Relationship Id="rId7" Type="http://schemas.openxmlformats.org/officeDocument/2006/relationships/image" Target="../media/image-9-7.svg"/><Relationship Id="rId8" Type="http://schemas.openxmlformats.org/officeDocument/2006/relationships/slideLayout" Target="../slideLayouts/slideLayout2.xml"/><Relationship Id="rId9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925119" y="1659582"/>
            <a:ext cx="956890" cy="215354"/>
          </a:xfrm>
          <a:prstGeom prst="roundRect">
            <a:avLst>
              <a:gd name="adj" fmla="val 7900"/>
            </a:avLst>
          </a:prstGeom>
          <a:solidFill>
            <a:srgbClr val="490315"/>
          </a:solidFill>
          <a:ln/>
        </p:spPr>
      </p:sp>
      <p:sp>
        <p:nvSpPr>
          <p:cNvPr id="4" name="Text 1"/>
          <p:cNvSpPr/>
          <p:nvPr/>
        </p:nvSpPr>
        <p:spPr>
          <a:xfrm>
            <a:off x="4010174" y="1702073"/>
            <a:ext cx="1243980" cy="1303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850" spc="-22" kern="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TEMA 1 · CLASE 2</a:t>
            </a:r>
            <a:endParaRPr lang="en-US" sz="850" dirty="0"/>
          </a:p>
        </p:txBody>
      </p:sp>
      <p:sp>
        <p:nvSpPr>
          <p:cNvPr id="5" name="Text 2"/>
          <p:cNvSpPr/>
          <p:nvPr/>
        </p:nvSpPr>
        <p:spPr>
          <a:xfrm>
            <a:off x="3925119" y="1931640"/>
            <a:ext cx="4722763" cy="8859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spc="-28" kern="0" dirty="0">
                <a:solidFill>
                  <a:srgbClr val="FA95AF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Simulación de Bases de Datos Relacionales en Hojas de Cálculo</a:t>
            </a:r>
            <a:endParaRPr lang="en-US" sz="2750" dirty="0"/>
          </a:p>
        </p:txBody>
      </p:sp>
      <p:sp>
        <p:nvSpPr>
          <p:cNvPr id="6" name="Text 3"/>
          <p:cNvSpPr/>
          <p:nvPr/>
        </p:nvSpPr>
        <p:spPr>
          <a:xfrm>
            <a:off x="3925119" y="3030215"/>
            <a:ext cx="4722763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spc="-22" kern="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Llevando la teoría relacional a </a:t>
            </a:r>
            <a:pPr algn="l" indent="0" marL="0">
              <a:lnSpc>
                <a:spcPct val="133000"/>
              </a:lnSpc>
              <a:buNone/>
            </a:pPr>
            <a:r>
              <a:rPr lang="en-US" sz="1100" b="1" spc="-22" kern="0" dirty="0">
                <a:solidFill>
                  <a:srgbClr val="E0D6DE"/>
                </a:solidFill>
                <a:latin typeface="Fira Sans Bold" pitchFamily="34" charset="0"/>
                <a:ea typeface="Fira Sans Bold" pitchFamily="34" charset="-122"/>
                <a:cs typeface="Fira Sans Bold" pitchFamily="34" charset="-120"/>
              </a:rPr>
              <a:t>Excel</a:t>
            </a:r>
            <a:pPr algn="l" indent="0" marL="0">
              <a:lnSpc>
                <a:spcPct val="133000"/>
              </a:lnSpc>
              <a:buNone/>
            </a:pPr>
            <a:r>
              <a:rPr lang="en-US" sz="1100" spc="-22" kern="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 y </a:t>
            </a:r>
            <a:pPr algn="l" indent="0" marL="0">
              <a:lnSpc>
                <a:spcPct val="133000"/>
              </a:lnSpc>
              <a:buNone/>
            </a:pPr>
            <a:r>
              <a:rPr lang="en-US" sz="1100" b="1" spc="-22" kern="0" dirty="0">
                <a:solidFill>
                  <a:srgbClr val="E0D6DE"/>
                </a:solidFill>
                <a:latin typeface="Fira Sans Bold" pitchFamily="34" charset="0"/>
                <a:ea typeface="Fira Sans Bold" pitchFamily="34" charset="-122"/>
                <a:cs typeface="Fira Sans Bold" pitchFamily="34" charset="-120"/>
              </a:rPr>
              <a:t>Google Sheets</a:t>
            </a:r>
            <a:pPr algn="l" indent="0" marL="0">
              <a:lnSpc>
                <a:spcPct val="133000"/>
              </a:lnSpc>
              <a:buNone/>
            </a:pPr>
            <a:r>
              <a:rPr lang="en-US" sz="1100" spc="-22" kern="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: modelado por pestañas, validación de datos, funciones de búsqueda y tablas dinámicas.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854050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spc="-28" kern="0" dirty="0">
                <a:solidFill>
                  <a:srgbClr val="FA95AF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Organizando la Información por Pestañas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496119" y="1580555"/>
            <a:ext cx="8151763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spc="-22" kern="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En lugar de mezclar todo en una sola hoja, </a:t>
            </a:r>
            <a:pPr algn="l" indent="0" marL="0">
              <a:lnSpc>
                <a:spcPct val="133000"/>
              </a:lnSpc>
              <a:buNone/>
            </a:pPr>
            <a:r>
              <a:rPr lang="en-US" sz="1100" b="1" spc="-22" kern="0" dirty="0">
                <a:solidFill>
                  <a:srgbClr val="E0D6DE"/>
                </a:solidFill>
                <a:latin typeface="Fira Sans Bold" pitchFamily="34" charset="0"/>
                <a:ea typeface="Fira Sans Bold" pitchFamily="34" charset="-122"/>
                <a:cs typeface="Fira Sans Bold" pitchFamily="34" charset="-120"/>
              </a:rPr>
              <a:t>separa cada entidad en su propia pestaña</a:t>
            </a:r>
            <a:pPr algn="l" indent="0" marL="0">
              <a:lnSpc>
                <a:spcPct val="133000"/>
              </a:lnSpc>
              <a:buNone/>
            </a:pPr>
            <a:r>
              <a:rPr lang="en-US" sz="1100" spc="-22" kern="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. Así simulas las tablas de una base de datos relacional.</a:t>
            </a:r>
            <a:endParaRPr lang="en-US" sz="11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119" y="2193652"/>
            <a:ext cx="1507480" cy="93166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96119" y="3302496"/>
            <a:ext cx="2599134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spc="-14" kern="0" dirty="0">
                <a:solidFill>
                  <a:srgbClr val="E0D6DE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Clientes</a:t>
            </a:r>
            <a:endParaRPr lang="en-US" sz="1350" dirty="0"/>
          </a:p>
        </p:txBody>
      </p:sp>
      <p:sp>
        <p:nvSpPr>
          <p:cNvPr id="6" name="Text 3"/>
          <p:cNvSpPr/>
          <p:nvPr/>
        </p:nvSpPr>
        <p:spPr>
          <a:xfrm>
            <a:off x="496119" y="3609008"/>
            <a:ext cx="2599134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spc="-22" kern="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Datos de cada cliente: ID, nombre, email y ciudad.</a:t>
            </a:r>
            <a:endParaRPr lang="en-US" sz="110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72433" y="2193652"/>
            <a:ext cx="1507480" cy="931664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3272433" y="3302496"/>
            <a:ext cx="2599134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spc="-14" kern="0" dirty="0">
                <a:solidFill>
                  <a:srgbClr val="E0D6DE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Productos</a:t>
            </a:r>
            <a:endParaRPr lang="en-US" sz="1350" dirty="0"/>
          </a:p>
        </p:txBody>
      </p:sp>
      <p:sp>
        <p:nvSpPr>
          <p:cNvPr id="9" name="Text 5"/>
          <p:cNvSpPr/>
          <p:nvPr/>
        </p:nvSpPr>
        <p:spPr>
          <a:xfrm>
            <a:off x="3272433" y="3609008"/>
            <a:ext cx="2599134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spc="-22" kern="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Catálogo completo: ID, nombre, categoría y precio.</a:t>
            </a:r>
            <a:endParaRPr lang="en-US" sz="110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48747" y="2193652"/>
            <a:ext cx="1507480" cy="931664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6048747" y="3302496"/>
            <a:ext cx="2599134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spc="-14" kern="0" dirty="0">
                <a:solidFill>
                  <a:srgbClr val="E0D6DE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Ventas</a:t>
            </a:r>
            <a:endParaRPr lang="en-US" sz="1350" dirty="0"/>
          </a:p>
        </p:txBody>
      </p:sp>
      <p:sp>
        <p:nvSpPr>
          <p:cNvPr id="12" name="Text 7"/>
          <p:cNvSpPr/>
          <p:nvPr/>
        </p:nvSpPr>
        <p:spPr>
          <a:xfrm>
            <a:off x="6048747" y="3609008"/>
            <a:ext cx="2599134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spc="-22" kern="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Registro de transacciones vinculando clientes y productos mediante claves foráneas.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6119" y="1127596"/>
            <a:ext cx="1339230" cy="215354"/>
          </a:xfrm>
          <a:prstGeom prst="roundRect">
            <a:avLst>
              <a:gd name="adj" fmla="val 7900"/>
            </a:avLst>
          </a:prstGeom>
          <a:solidFill>
            <a:srgbClr val="490315"/>
          </a:solidFill>
          <a:ln/>
        </p:spPr>
      </p:sp>
      <p:sp>
        <p:nvSpPr>
          <p:cNvPr id="3" name="Text 1"/>
          <p:cNvSpPr/>
          <p:nvPr/>
        </p:nvSpPr>
        <p:spPr>
          <a:xfrm>
            <a:off x="581174" y="1170087"/>
            <a:ext cx="1626319" cy="1303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850" spc="-22" kern="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REGLAS DE ESTRUCTURA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96119" y="1399654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spc="-28" kern="0" dirty="0">
                <a:solidFill>
                  <a:srgbClr val="FA95AF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Tres Reglas para una Tabla Bien Diseñada</a:t>
            </a:r>
            <a:endParaRPr lang="en-US" sz="275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96119" y="2055242"/>
            <a:ext cx="2622724" cy="196066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701180" y="2153989"/>
            <a:ext cx="212601" cy="2658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650" spc="-17" kern="0" dirty="0">
                <a:solidFill>
                  <a:srgbClr val="E0D6DE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1</a:t>
            </a:r>
            <a:endParaRPr lang="en-US" sz="1650" dirty="0"/>
          </a:p>
        </p:txBody>
      </p:sp>
      <p:sp>
        <p:nvSpPr>
          <p:cNvPr id="7" name="Text 4"/>
          <p:cNvSpPr/>
          <p:nvPr/>
        </p:nvSpPr>
        <p:spPr>
          <a:xfrm>
            <a:off x="656927" y="2641327"/>
            <a:ext cx="2301106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spc="-14" kern="0" dirty="0">
                <a:solidFill>
                  <a:srgbClr val="E0D6DE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Una pestaña por entidad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656927" y="2947839"/>
            <a:ext cx="2301106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spc="-22" kern="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No mezcles datos de distintas entidades en la misma hoja. Cada tabla tiene su propio espacio.</a:t>
            </a:r>
            <a:endParaRPr lang="en-US" sz="11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260601" y="2055242"/>
            <a:ext cx="2622724" cy="1960662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4465662" y="2153989"/>
            <a:ext cx="212601" cy="2658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650" spc="-17" kern="0" dirty="0">
                <a:solidFill>
                  <a:srgbClr val="E0D6DE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2</a:t>
            </a:r>
            <a:endParaRPr lang="en-US" sz="1650" dirty="0"/>
          </a:p>
        </p:txBody>
      </p:sp>
      <p:sp>
        <p:nvSpPr>
          <p:cNvPr id="11" name="Text 7"/>
          <p:cNvSpPr/>
          <p:nvPr/>
        </p:nvSpPr>
        <p:spPr>
          <a:xfrm>
            <a:off x="3421410" y="2641327"/>
            <a:ext cx="2301106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spc="-14" kern="0" dirty="0">
                <a:solidFill>
                  <a:srgbClr val="E0D6DE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Formato de tabla plana</a:t>
            </a:r>
            <a:endParaRPr lang="en-US" sz="1350" dirty="0"/>
          </a:p>
        </p:txBody>
      </p:sp>
      <p:sp>
        <p:nvSpPr>
          <p:cNvPr id="12" name="Text 8"/>
          <p:cNvSpPr/>
          <p:nvPr/>
        </p:nvSpPr>
        <p:spPr>
          <a:xfrm>
            <a:off x="3421410" y="2947839"/>
            <a:ext cx="2301106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spc="-22" kern="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Fila 1 solo para encabezados. Un registro por fila. Sin celdas combinadas. Una sola clase de dato por columna.</a:t>
            </a:r>
            <a:endParaRPr lang="en-US" sz="1100" dirty="0"/>
          </a:p>
        </p:txBody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025083" y="2055242"/>
            <a:ext cx="2622724" cy="1960662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7230145" y="2153989"/>
            <a:ext cx="212601" cy="2658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650" spc="-17" kern="0" dirty="0">
                <a:solidFill>
                  <a:srgbClr val="E0D6DE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3</a:t>
            </a:r>
            <a:endParaRPr lang="en-US" sz="1650" dirty="0"/>
          </a:p>
        </p:txBody>
      </p:sp>
      <p:sp>
        <p:nvSpPr>
          <p:cNvPr id="15" name="Text 10"/>
          <p:cNvSpPr/>
          <p:nvPr/>
        </p:nvSpPr>
        <p:spPr>
          <a:xfrm>
            <a:off x="6185892" y="2641327"/>
            <a:ext cx="2301106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spc="-14" kern="0" dirty="0">
                <a:solidFill>
                  <a:srgbClr val="E0D6DE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La primera columna es la PK</a:t>
            </a:r>
            <a:endParaRPr lang="en-US" sz="1350" dirty="0"/>
          </a:p>
        </p:txBody>
      </p:sp>
      <p:sp>
        <p:nvSpPr>
          <p:cNvPr id="16" name="Text 11"/>
          <p:cNvSpPr/>
          <p:nvPr/>
        </p:nvSpPr>
        <p:spPr>
          <a:xfrm>
            <a:off x="6185892" y="2947839"/>
            <a:ext cx="2301106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spc="-22" kern="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La Clave Primaria va siempre en la primera columna. Identifica de forma única cada registro.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25351"/>
            <a:ext cx="8151763" cy="4083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550" spc="-26" kern="0" dirty="0">
                <a:solidFill>
                  <a:srgbClr val="FA95AF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Ejemplo: Tabla de Productos Bien Estructurada</a:t>
            </a:r>
            <a:endParaRPr lang="en-US" sz="25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119" y="1396603"/>
            <a:ext cx="5187032" cy="293928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006703" y="1134889"/>
            <a:ext cx="2645866" cy="2041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spc="-13" kern="0" dirty="0">
                <a:solidFill>
                  <a:srgbClr val="FA95AF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Pestaña: Productos</a:t>
            </a:r>
            <a:endParaRPr lang="en-US" sz="1250" dirty="0"/>
          </a:p>
        </p:txBody>
      </p:sp>
      <p:sp>
        <p:nvSpPr>
          <p:cNvPr id="5" name="Shape 2"/>
          <p:cNvSpPr/>
          <p:nvPr/>
        </p:nvSpPr>
        <p:spPr>
          <a:xfrm>
            <a:off x="6006703" y="1474515"/>
            <a:ext cx="2645866" cy="2087910"/>
          </a:xfrm>
          <a:prstGeom prst="roundRect">
            <a:avLst>
              <a:gd name="adj" fmla="val 939"/>
            </a:avLst>
          </a:prstGeom>
          <a:noFill/>
          <a:ln w="4763">
            <a:solidFill>
              <a:srgbClr val="FFFFFF">
                <a:alpha val="24000"/>
              </a:srgbClr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6006703" y="2238226"/>
            <a:ext cx="2645866" cy="8168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</p:sp>
      <p:sp>
        <p:nvSpPr>
          <p:cNvPr id="7" name="Shape 4"/>
          <p:cNvSpPr/>
          <p:nvPr/>
        </p:nvSpPr>
        <p:spPr>
          <a:xfrm>
            <a:off x="6006703" y="2798713"/>
            <a:ext cx="2645866" cy="8168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</p:sp>
      <p:sp>
        <p:nvSpPr>
          <p:cNvPr id="8" name="Text 5"/>
          <p:cNvSpPr/>
          <p:nvPr/>
        </p:nvSpPr>
        <p:spPr>
          <a:xfrm>
            <a:off x="6142137" y="1556296"/>
            <a:ext cx="397743" cy="6025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000" b="1" spc="-21" kern="0" dirty="0">
                <a:solidFill>
                  <a:srgbClr val="E0D6DE"/>
                </a:solidFill>
                <a:latin typeface="Fira Sans Bold" pitchFamily="34" charset="0"/>
                <a:ea typeface="Fira Sans Bold" pitchFamily="34" charset="-122"/>
                <a:cs typeface="Fira Sans Bold" pitchFamily="34" charset="-120"/>
              </a:rPr>
              <a:t>id_producto (PK)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6801222" y="1556296"/>
            <a:ext cx="397743" cy="6025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000" b="1" spc="-21" kern="0" dirty="0">
                <a:solidFill>
                  <a:srgbClr val="E0D6DE"/>
                </a:solidFill>
                <a:latin typeface="Fira Sans Bold" pitchFamily="34" charset="0"/>
                <a:ea typeface="Fira Sans Bold" pitchFamily="34" charset="-122"/>
                <a:cs typeface="Fira Sans Bold" pitchFamily="34" charset="-120"/>
              </a:rPr>
              <a:t>nombre_producto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7460307" y="1556296"/>
            <a:ext cx="397743" cy="4016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000" b="1" spc="-21" kern="0" dirty="0">
                <a:solidFill>
                  <a:srgbClr val="E0D6DE"/>
                </a:solidFill>
                <a:latin typeface="Fira Sans Bold" pitchFamily="34" charset="0"/>
                <a:ea typeface="Fira Sans Bold" pitchFamily="34" charset="-122"/>
                <a:cs typeface="Fira Sans Bold" pitchFamily="34" charset="-120"/>
              </a:rPr>
              <a:t>categoría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8119393" y="1556296"/>
            <a:ext cx="397743" cy="6025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000" b="1" spc="-21" kern="0" dirty="0">
                <a:solidFill>
                  <a:srgbClr val="E0D6DE"/>
                </a:solidFill>
                <a:latin typeface="Fira Sans Bold" pitchFamily="34" charset="0"/>
                <a:ea typeface="Fira Sans Bold" pitchFamily="34" charset="-122"/>
                <a:cs typeface="Fira Sans Bold" pitchFamily="34" charset="-120"/>
              </a:rPr>
              <a:t>precio_unitario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6142137" y="2317626"/>
            <a:ext cx="397743" cy="4016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000" spc="-21" kern="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PROD-01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6801222" y="2317626"/>
            <a:ext cx="397743" cy="4016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000" spc="-21" kern="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Laptop Pro 15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7460307" y="2317626"/>
            <a:ext cx="397743" cy="4016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000" spc="-21" kern="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Electrónica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8119393" y="2317626"/>
            <a:ext cx="397743" cy="4016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000" spc="-21" kern="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$1.200,00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6142137" y="2878113"/>
            <a:ext cx="397743" cy="4016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000" spc="-21" kern="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PROD-02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6801222" y="2878113"/>
            <a:ext cx="397743" cy="6025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000" spc="-21" kern="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Mouse Inalámbrico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7460307" y="2878113"/>
            <a:ext cx="397743" cy="4016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000" spc="-21" kern="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Accesorios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8119393" y="2878113"/>
            <a:ext cx="854943" cy="2008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000" spc="-21" kern="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$25,00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6006703" y="3697932"/>
            <a:ext cx="2645866" cy="884709"/>
          </a:xfrm>
          <a:prstGeom prst="roundRect">
            <a:avLst>
              <a:gd name="adj" fmla="val 2216"/>
            </a:avLst>
          </a:prstGeom>
          <a:solidFill>
            <a:srgbClr val="183A13"/>
          </a:solidFill>
          <a:ln/>
        </p:spPr>
      </p:sp>
      <p:pic>
        <p:nvPicPr>
          <p:cNvPr id="2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37374" y="3879577"/>
            <a:ext cx="163339" cy="130671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6431384" y="3839021"/>
            <a:ext cx="2090514" cy="6025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000" spc="-21" kern="0" dirty="0">
                <a:solidFill>
                  <a:srgbClr val="000000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✔</a:t>
            </a:r>
            <a:pPr algn="l" indent="0" marL="0">
              <a:lnSpc>
                <a:spcPct val="128000"/>
              </a:lnSpc>
              <a:buNone/>
            </a:pPr>
            <a:r>
              <a:rPr lang="en-US" sz="1000" spc="-21" kern="0" dirty="0">
                <a:solidFill>
                  <a:srgbClr val="FFFFFF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 Sin celdas combinadas, encabezados en fila 1 y PK en la primera columna.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925119" y="521940"/>
            <a:ext cx="1247924" cy="215354"/>
          </a:xfrm>
          <a:prstGeom prst="roundRect">
            <a:avLst>
              <a:gd name="adj" fmla="val 7900"/>
            </a:avLst>
          </a:prstGeom>
          <a:solidFill>
            <a:srgbClr val="490315"/>
          </a:solidFill>
          <a:ln/>
        </p:spPr>
      </p:sp>
      <p:sp>
        <p:nvSpPr>
          <p:cNvPr id="4" name="Text 1"/>
          <p:cNvSpPr/>
          <p:nvPr/>
        </p:nvSpPr>
        <p:spPr>
          <a:xfrm>
            <a:off x="4010174" y="564431"/>
            <a:ext cx="1535013" cy="1303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850" spc="-22" kern="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INTEGRIDAD DE DATOS</a:t>
            </a:r>
            <a:endParaRPr lang="en-US" sz="850" dirty="0"/>
          </a:p>
        </p:txBody>
      </p:sp>
      <p:sp>
        <p:nvSpPr>
          <p:cNvPr id="5" name="Text 2"/>
          <p:cNvSpPr/>
          <p:nvPr/>
        </p:nvSpPr>
        <p:spPr>
          <a:xfrm>
            <a:off x="3925119" y="793998"/>
            <a:ext cx="4722763" cy="8859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spc="-28" kern="0" dirty="0">
                <a:solidFill>
                  <a:srgbClr val="FA95AF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El Problema de los Errores de Tipeo</a:t>
            </a:r>
            <a:endParaRPr lang="en-US" sz="2750" dirty="0"/>
          </a:p>
        </p:txBody>
      </p:sp>
      <p:sp>
        <p:nvSpPr>
          <p:cNvPr id="6" name="Text 3"/>
          <p:cNvSpPr/>
          <p:nvPr/>
        </p:nvSpPr>
        <p:spPr>
          <a:xfrm>
            <a:off x="3925119" y="1892573"/>
            <a:ext cx="4722763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spc="-22" kern="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En hojas de cálculo sin controles, los usuarios introducen valores inconsistentes que </a:t>
            </a:r>
            <a:pPr algn="l" indent="0" marL="0">
              <a:lnSpc>
                <a:spcPct val="133000"/>
              </a:lnSpc>
              <a:buNone/>
            </a:pPr>
            <a:r>
              <a:rPr lang="en-US" sz="1100" b="1" spc="-22" kern="0" dirty="0">
                <a:solidFill>
                  <a:srgbClr val="E0D6DE"/>
                </a:solidFill>
                <a:latin typeface="Fira Sans Bold" pitchFamily="34" charset="0"/>
                <a:ea typeface="Fira Sans Bold" pitchFamily="34" charset="-122"/>
                <a:cs typeface="Fira Sans Bold" pitchFamily="34" charset="-120"/>
              </a:rPr>
              <a:t>rompen las relaciones entre tablas</a:t>
            </a:r>
            <a:pPr algn="l" indent="0" marL="0">
              <a:lnSpc>
                <a:spcPct val="133000"/>
              </a:lnSpc>
              <a:buNone/>
            </a:pPr>
            <a:r>
              <a:rPr lang="en-US" sz="1100" spc="-22" kern="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.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3925119" y="2505670"/>
            <a:ext cx="4722763" cy="2115889"/>
          </a:xfrm>
          <a:prstGeom prst="roundRect">
            <a:avLst>
              <a:gd name="adj" fmla="val 1005"/>
            </a:avLst>
          </a:prstGeom>
          <a:solidFill>
            <a:srgbClr val="3E3E3E"/>
          </a:solidFill>
          <a:ln/>
        </p:spPr>
      </p:sp>
      <p:sp>
        <p:nvSpPr>
          <p:cNvPr id="8" name="Shape 5"/>
          <p:cNvSpPr/>
          <p:nvPr/>
        </p:nvSpPr>
        <p:spPr>
          <a:xfrm>
            <a:off x="3925119" y="2505670"/>
            <a:ext cx="4722763" cy="1057945"/>
          </a:xfrm>
          <a:custGeom>
            <a:avLst/>
            <a:gdLst/>
            <a:ahLst/>
            <a:cxnLst/>
            <a:rect l="l" t="t" r="r" b="b"/>
            <a:pathLst>
              <a:path w="4722763" h="1057945">
                <a:moveTo>
                  <a:pt x="17721" y="0"/>
                </a:moveTo>
                <a:lnTo>
                  <a:pt x="4705042" y="0"/>
                </a:lnTo>
                <a:arcTo hR="17721" wR="17721" stAng="16200000" swAng="5400000"/>
                <a:lnTo>
                  <a:pt x="4722763" y="1057945"/>
                </a:lnTo>
                <a:lnTo>
                  <a:pt x="0" y="1057945"/>
                </a:lnTo>
                <a:lnTo>
                  <a:pt x="0" y="17721"/>
                </a:lnTo>
                <a:arcTo hR="17721" wR="17721" stAng="10800000" swAng="5400000"/>
                <a:close/>
              </a:path>
            </a:pathLst>
          </a:custGeom>
          <a:solidFill>
            <a:srgbClr val="3E3E3E"/>
          </a:solidFill>
          <a:ln/>
        </p:spPr>
      </p:sp>
      <p:sp>
        <p:nvSpPr>
          <p:cNvPr id="9" name="Text 6"/>
          <p:cNvSpPr/>
          <p:nvPr/>
        </p:nvSpPr>
        <p:spPr>
          <a:xfrm>
            <a:off x="4066877" y="2647429"/>
            <a:ext cx="4439245" cy="2357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spc="-14" kern="0" dirty="0">
                <a:solidFill>
                  <a:srgbClr val="000000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❌</a:t>
            </a:r>
            <a:pPr algn="l" indent="0" marL="0">
              <a:lnSpc>
                <a:spcPct val="104000"/>
              </a:lnSpc>
              <a:buNone/>
            </a:pPr>
            <a:r>
              <a:rPr lang="en-US" sz="1350" spc="-14" kern="0" dirty="0">
                <a:solidFill>
                  <a:srgbClr val="E0D6DE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 Sin validación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4066877" y="2968228"/>
            <a:ext cx="4439245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spc="-22" kern="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"Muz", "mouse", "Mouse " — tres formas de escribir lo mismo, tres valores distintos para el sistema.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3925119" y="3563615"/>
            <a:ext cx="4722763" cy="1057945"/>
          </a:xfrm>
          <a:custGeom>
            <a:avLst/>
            <a:gdLst/>
            <a:ahLst/>
            <a:cxnLst/>
            <a:rect l="l" t="t" r="r" b="b"/>
            <a:pathLst>
              <a:path w="4722763" h="1057945">
                <a:moveTo>
                  <a:pt x="0" y="0"/>
                </a:moveTo>
                <a:lnTo>
                  <a:pt x="4722763" y="0"/>
                </a:lnTo>
                <a:lnTo>
                  <a:pt x="4722763" y="1040224"/>
                </a:lnTo>
                <a:arcTo hR="17721" wR="17721" stAng="0" swAng="5400000"/>
                <a:lnTo>
                  <a:pt x="17721" y="1057945"/>
                </a:lnTo>
                <a:arcTo hR="17721" wR="17721" stAng="5400000" swAng="5400000"/>
                <a:lnTo>
                  <a:pt x="0" y="0"/>
                </a:lnTo>
                <a:close/>
              </a:path>
            </a:pathLst>
          </a:custGeom>
          <a:solidFill>
            <a:srgbClr val="3E3E3E"/>
          </a:solidFill>
          <a:ln/>
        </p:spPr>
      </p:sp>
      <p:sp>
        <p:nvSpPr>
          <p:cNvPr id="12" name="Shape 9"/>
          <p:cNvSpPr/>
          <p:nvPr/>
        </p:nvSpPr>
        <p:spPr>
          <a:xfrm>
            <a:off x="3925119" y="3563615"/>
            <a:ext cx="4722763" cy="19050"/>
          </a:xfrm>
          <a:prstGeom prst="roundRect">
            <a:avLst>
              <a:gd name="adj" fmla="val 50000"/>
            </a:avLst>
          </a:prstGeom>
          <a:solidFill>
            <a:srgbClr val="575757"/>
          </a:solidFill>
          <a:ln/>
        </p:spPr>
      </p:sp>
      <p:sp>
        <p:nvSpPr>
          <p:cNvPr id="13" name="Text 10"/>
          <p:cNvSpPr/>
          <p:nvPr/>
        </p:nvSpPr>
        <p:spPr>
          <a:xfrm>
            <a:off x="4066877" y="3705374"/>
            <a:ext cx="4439245" cy="2357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spc="-14" kern="0" dirty="0">
                <a:solidFill>
                  <a:srgbClr val="000000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✅</a:t>
            </a:r>
            <a:pPr algn="l" indent="0" marL="0">
              <a:lnSpc>
                <a:spcPct val="104000"/>
              </a:lnSpc>
              <a:buNone/>
            </a:pPr>
            <a:r>
              <a:rPr lang="en-US" sz="1350" spc="-14" kern="0" dirty="0">
                <a:solidFill>
                  <a:srgbClr val="E0D6DE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 Con validación</a:t>
            </a:r>
            <a:endParaRPr lang="en-US" sz="1350" dirty="0"/>
          </a:p>
        </p:txBody>
      </p:sp>
      <p:sp>
        <p:nvSpPr>
          <p:cNvPr id="14" name="Text 11"/>
          <p:cNvSpPr/>
          <p:nvPr/>
        </p:nvSpPr>
        <p:spPr>
          <a:xfrm>
            <a:off x="4066877" y="4026173"/>
            <a:ext cx="4439245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spc="-22" kern="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Lista desplegable que solo permite seleccionar valores existentes en la tabla principal.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6119" y="431229"/>
            <a:ext cx="1114276" cy="208583"/>
          </a:xfrm>
          <a:prstGeom prst="roundRect">
            <a:avLst>
              <a:gd name="adj" fmla="val 7901"/>
            </a:avLst>
          </a:prstGeom>
          <a:solidFill>
            <a:srgbClr val="490315"/>
          </a:solidFill>
          <a:ln/>
        </p:spPr>
      </p:sp>
      <p:sp>
        <p:nvSpPr>
          <p:cNvPr id="3" name="Text 1"/>
          <p:cNvSpPr/>
          <p:nvPr/>
        </p:nvSpPr>
        <p:spPr>
          <a:xfrm>
            <a:off x="578495" y="472380"/>
            <a:ext cx="1406723" cy="1262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850" spc="-22" kern="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CLAVE FORÁNEA (FK)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96119" y="693018"/>
            <a:ext cx="8151763" cy="4291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00" spc="-27" kern="0" dirty="0">
                <a:solidFill>
                  <a:srgbClr val="FA95AF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Validación de Datos: Simulando una FK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496119" y="1454646"/>
            <a:ext cx="2635300" cy="2145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spc="-14" kern="0" dirty="0">
                <a:solidFill>
                  <a:srgbClr val="FA95AF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¿Cómo configurarlo?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496119" y="1802160"/>
            <a:ext cx="2635300" cy="16537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13360" indent="-213360">
              <a:lnSpc>
                <a:spcPct val="131000"/>
              </a:lnSpc>
              <a:buSzPct val="100000"/>
              <a:buFont typeface="+mj-lt"/>
              <a:buAutoNum type="arabicPeriod" startAt="1"/>
            </a:pPr>
            <a:r>
              <a:rPr lang="en-US" sz="1050" spc="-22" kern="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Selecciona la columna </a:t>
            </a:r>
            <a:pPr algn="l" marL="213360" indent="-213360">
              <a:lnSpc>
                <a:spcPct val="131000"/>
              </a:lnSpc>
              <a:buSzPct val="100000"/>
              <a:buFont typeface="+mj-lt"/>
              <a:buAutoNum type="arabicPeriod" startAt="1"/>
            </a:pPr>
            <a:r>
              <a:rPr lang="en-US" sz="1050" b="1" spc="-22" kern="0" dirty="0">
                <a:solidFill>
                  <a:srgbClr val="E0D6DE"/>
                </a:solidFill>
                <a:latin typeface="Fira Sans Bold" pitchFamily="34" charset="0"/>
                <a:ea typeface="Fira Sans Bold" pitchFamily="34" charset="-122"/>
                <a:cs typeface="Fira Sans Bold" pitchFamily="34" charset="-120"/>
              </a:rPr>
              <a:t>id_producto</a:t>
            </a:r>
            <a:pPr algn="l" marL="213360" indent="-213360">
              <a:lnSpc>
                <a:spcPct val="131000"/>
              </a:lnSpc>
              <a:buSzPct val="100000"/>
              <a:buFont typeface="+mj-lt"/>
              <a:buAutoNum type="arabicPeriod" startAt="1"/>
            </a:pPr>
            <a:r>
              <a:rPr lang="en-US" sz="1050" spc="-22" kern="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 en la hoja </a:t>
            </a:r>
            <a:pPr algn="l" marL="213360" indent="-213360">
              <a:lnSpc>
                <a:spcPct val="131000"/>
              </a:lnSpc>
              <a:buSzPct val="100000"/>
              <a:buFont typeface="+mj-lt"/>
              <a:buAutoNum type="arabicPeriod" startAt="1"/>
            </a:pPr>
            <a:r>
              <a:rPr lang="en-US" sz="1050" i="1" spc="-22" kern="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Ventas</a:t>
            </a:r>
            <a:pPr algn="l" marL="213360" indent="-213360">
              <a:lnSpc>
                <a:spcPct val="131000"/>
              </a:lnSpc>
              <a:buSzPct val="100000"/>
              <a:buFont typeface="+mj-lt"/>
              <a:buAutoNum type="arabicPeriod" startAt="1"/>
            </a:pPr>
            <a:r>
              <a:rPr lang="en-US" sz="1050" spc="-22" kern="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.</a:t>
            </a:r>
            <a:endParaRPr lang="en-US" sz="1050" dirty="0"/>
          </a:p>
          <a:p>
            <a:pPr algn="l" marL="213360" indent="-213360">
              <a:lnSpc>
                <a:spcPct val="131000"/>
              </a:lnSpc>
              <a:buSzPct val="100000"/>
              <a:buFont typeface="+mj-lt"/>
              <a:buAutoNum type="arabicPeriod" startAt="2"/>
            </a:pPr>
            <a:r>
              <a:rPr lang="en-US" sz="1050" spc="-22" kern="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Ve a </a:t>
            </a:r>
            <a:pPr algn="l" marL="213360" indent="-213360">
              <a:lnSpc>
                <a:spcPct val="131000"/>
              </a:lnSpc>
              <a:buSzPct val="100000"/>
              <a:buFont typeface="+mj-lt"/>
              <a:buAutoNum type="arabicPeriod" startAt="2"/>
            </a:pPr>
            <a:r>
              <a:rPr lang="en-US" sz="1050" b="1" spc="-22" kern="0" dirty="0">
                <a:solidFill>
                  <a:srgbClr val="E0D6DE"/>
                </a:solidFill>
                <a:latin typeface="Fira Sans Bold" pitchFamily="34" charset="0"/>
                <a:ea typeface="Fira Sans Bold" pitchFamily="34" charset="-122"/>
                <a:cs typeface="Fira Sans Bold" pitchFamily="34" charset="-120"/>
              </a:rPr>
              <a:t>Datos → Validación de datos</a:t>
            </a:r>
            <a:pPr algn="l" marL="213360" indent="-213360">
              <a:lnSpc>
                <a:spcPct val="131000"/>
              </a:lnSpc>
              <a:buSzPct val="100000"/>
              <a:buFont typeface="+mj-lt"/>
              <a:buAutoNum type="arabicPeriod" startAt="2"/>
            </a:pPr>
            <a:r>
              <a:rPr lang="en-US" sz="1050" spc="-22" kern="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.</a:t>
            </a:r>
            <a:endParaRPr lang="en-US" sz="1050" dirty="0"/>
          </a:p>
          <a:p>
            <a:pPr algn="l" marL="213360" indent="-213360">
              <a:lnSpc>
                <a:spcPct val="131000"/>
              </a:lnSpc>
              <a:buSzPct val="100000"/>
              <a:buFont typeface="+mj-lt"/>
              <a:buAutoNum type="arabicPeriod" startAt="3"/>
            </a:pPr>
            <a:r>
              <a:rPr lang="en-US" sz="1050" spc="-22" kern="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Elige </a:t>
            </a:r>
            <a:pPr algn="l" marL="213360" indent="-213360">
              <a:lnSpc>
                <a:spcPct val="131000"/>
              </a:lnSpc>
              <a:buSzPct val="100000"/>
              <a:buFont typeface="+mj-lt"/>
              <a:buAutoNum type="arabicPeriod" startAt="3"/>
            </a:pPr>
            <a:r>
              <a:rPr lang="en-US" sz="1050" b="1" spc="-22" kern="0" dirty="0">
                <a:solidFill>
                  <a:srgbClr val="E0D6DE"/>
                </a:solidFill>
                <a:latin typeface="Fira Sans Bold" pitchFamily="34" charset="0"/>
                <a:ea typeface="Fira Sans Bold" pitchFamily="34" charset="-122"/>
                <a:cs typeface="Fira Sans Bold" pitchFamily="34" charset="-120"/>
              </a:rPr>
              <a:t>Lista desde un rango</a:t>
            </a:r>
            <a:pPr algn="l" marL="213360" indent="-213360">
              <a:lnSpc>
                <a:spcPct val="131000"/>
              </a:lnSpc>
              <a:buSzPct val="100000"/>
              <a:buFont typeface="+mj-lt"/>
              <a:buAutoNum type="arabicPeriod" startAt="3"/>
            </a:pPr>
            <a:r>
              <a:rPr lang="en-US" sz="1050" spc="-22" kern="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 y selecciona la columna PK de </a:t>
            </a:r>
            <a:pPr algn="l" marL="213360" indent="-213360">
              <a:lnSpc>
                <a:spcPct val="131000"/>
              </a:lnSpc>
              <a:buSzPct val="100000"/>
              <a:buFont typeface="+mj-lt"/>
              <a:buAutoNum type="arabicPeriod" startAt="3"/>
            </a:pPr>
            <a:r>
              <a:rPr lang="en-US" sz="1050" i="1" spc="-22" kern="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Productos</a:t>
            </a:r>
            <a:pPr algn="l" marL="213360" indent="-213360">
              <a:lnSpc>
                <a:spcPct val="131000"/>
              </a:lnSpc>
              <a:buSzPct val="100000"/>
              <a:buFont typeface="+mj-lt"/>
              <a:buAutoNum type="arabicPeriod" startAt="3"/>
            </a:pPr>
            <a:r>
              <a:rPr lang="en-US" sz="1050" spc="-22" kern="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.</a:t>
            </a:r>
            <a:endParaRPr lang="en-US" sz="1050" dirty="0"/>
          </a:p>
          <a:p>
            <a:pPr algn="l" marL="213360" indent="-213360">
              <a:lnSpc>
                <a:spcPct val="131000"/>
              </a:lnSpc>
              <a:buSzPct val="100000"/>
              <a:buFont typeface="+mj-lt"/>
              <a:buAutoNum type="arabicPeriod" startAt="4"/>
            </a:pPr>
            <a:r>
              <a:rPr lang="en-US" sz="1050" spc="-22" kern="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Activa "Mostrar lista desplegable en celda".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496119" y="3605585"/>
            <a:ext cx="2635300" cy="957039"/>
          </a:xfrm>
          <a:prstGeom prst="roundRect">
            <a:avLst>
              <a:gd name="adj" fmla="val 2153"/>
            </a:avLst>
          </a:prstGeom>
          <a:solidFill>
            <a:srgbClr val="7A0622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3413" y="3805089"/>
            <a:ext cx="171599" cy="137294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942305" y="3759622"/>
            <a:ext cx="2051819" cy="64896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1000"/>
              </a:lnSpc>
              <a:buNone/>
            </a:pPr>
            <a:r>
              <a:rPr lang="en-US" sz="1050" spc="-22" kern="0" dirty="0">
                <a:solidFill>
                  <a:srgbClr val="FFFFFF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El usuario solo podrá elegir valores que ya existen en la tabla Productos.</a:t>
            </a:r>
            <a:endParaRPr lang="en-US" sz="105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1193" y="1548929"/>
            <a:ext cx="5181377" cy="2936081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6119" y="1114053"/>
            <a:ext cx="1441996" cy="215354"/>
          </a:xfrm>
          <a:prstGeom prst="roundRect">
            <a:avLst>
              <a:gd name="adj" fmla="val 7900"/>
            </a:avLst>
          </a:prstGeom>
          <a:solidFill>
            <a:srgbClr val="490315"/>
          </a:solidFill>
          <a:ln/>
        </p:spPr>
      </p:sp>
      <p:sp>
        <p:nvSpPr>
          <p:cNvPr id="3" name="Text 1"/>
          <p:cNvSpPr/>
          <p:nvPr/>
        </p:nvSpPr>
        <p:spPr>
          <a:xfrm>
            <a:off x="581174" y="1156543"/>
            <a:ext cx="1729085" cy="1303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850" spc="-22" kern="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FUNCIONES DE BÚSQUEDA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96119" y="1386111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spc="-28" kern="0" dirty="0">
                <a:solidFill>
                  <a:srgbClr val="FA95AF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Relacionando Tablas con Fórmulas</a:t>
            </a:r>
            <a:endParaRPr lang="en-US" sz="2750" dirty="0"/>
          </a:p>
        </p:txBody>
      </p:sp>
      <p:sp>
        <p:nvSpPr>
          <p:cNvPr id="5" name="Text 3"/>
          <p:cNvSpPr/>
          <p:nvPr/>
        </p:nvSpPr>
        <p:spPr>
          <a:xfrm>
            <a:off x="496119" y="2041699"/>
            <a:ext cx="860896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spc="-22" kern="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En lugar de duplicar datos, usa fórmulas para </a:t>
            </a:r>
            <a:pPr algn="l" indent="0" marL="0">
              <a:lnSpc>
                <a:spcPct val="133000"/>
              </a:lnSpc>
              <a:buNone/>
            </a:pPr>
            <a:r>
              <a:rPr lang="en-US" sz="1100" b="1" spc="-22" kern="0" dirty="0">
                <a:solidFill>
                  <a:srgbClr val="E0D6DE"/>
                </a:solidFill>
                <a:latin typeface="Fira Sans Bold" pitchFamily="34" charset="0"/>
                <a:ea typeface="Fira Sans Bold" pitchFamily="34" charset="-122"/>
                <a:cs typeface="Fira Sans Bold" pitchFamily="34" charset="-120"/>
              </a:rPr>
              <a:t>traer la información desde la tabla origen</a:t>
            </a:r>
            <a:pPr algn="l" indent="0" marL="0">
              <a:lnSpc>
                <a:spcPct val="133000"/>
              </a:lnSpc>
              <a:buNone/>
            </a:pPr>
            <a:r>
              <a:rPr lang="en-US" sz="1100" spc="-22" kern="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 usando la clave foránea.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96119" y="2427982"/>
            <a:ext cx="4004965" cy="1601391"/>
          </a:xfrm>
          <a:prstGeom prst="roundRect">
            <a:avLst>
              <a:gd name="adj" fmla="val 1328"/>
            </a:avLst>
          </a:prstGeom>
          <a:solidFill>
            <a:srgbClr val="3E3E3E"/>
          </a:solidFill>
          <a:ln/>
        </p:spPr>
      </p:sp>
      <p:sp>
        <p:nvSpPr>
          <p:cNvPr id="7" name="Text 5"/>
          <p:cNvSpPr/>
          <p:nvPr/>
        </p:nvSpPr>
        <p:spPr>
          <a:xfrm>
            <a:off x="637877" y="2569741"/>
            <a:ext cx="3721447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spc="-14" kern="0" dirty="0">
                <a:solidFill>
                  <a:srgbClr val="E0D6DE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BUSCARX / XLOOKUP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637877" y="2876252"/>
            <a:ext cx="3721447" cy="7750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spcAft>
                <a:spcPts val="650"/>
              </a:spcAft>
              <a:buNone/>
            </a:pPr>
            <a:r>
              <a:rPr lang="en-US" sz="1100" b="1" spc="-22" kern="0" dirty="0">
                <a:solidFill>
                  <a:srgbClr val="E0D6DE"/>
                </a:solidFill>
                <a:latin typeface="Fira Sans Bold" pitchFamily="34" charset="0"/>
                <a:ea typeface="Fira Sans Bold" pitchFamily="34" charset="-122"/>
                <a:cs typeface="Fira Sans Bold" pitchFamily="34" charset="-120"/>
              </a:rPr>
              <a:t>Recomendada.</a:t>
            </a:r>
            <a:pPr algn="l" indent="0" marL="0">
              <a:lnSpc>
                <a:spcPct val="133000"/>
              </a:lnSpc>
              <a:spcAft>
                <a:spcPts val="650"/>
              </a:spcAft>
              <a:buNone/>
            </a:pPr>
            <a:r>
              <a:rPr lang="en-US" sz="1100" spc="-22" kern="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 Flexible, moderna y no requiere contar columnas.</a:t>
            </a:r>
            <a:endParaRPr lang="en-US" sz="11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100" spc="-22" kern="0" dirty="0">
                <a:solidFill>
                  <a:srgbClr val="E0D6DE"/>
                </a:solidFill>
                <a:highlight>
                  <a:srgbClr val="2C2C2C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=BUSCARX(valor_buscado, col_búsqueda, col_retorno)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642842" y="2427982"/>
            <a:ext cx="4005039" cy="1601391"/>
          </a:xfrm>
          <a:prstGeom prst="roundRect">
            <a:avLst>
              <a:gd name="adj" fmla="val 1328"/>
            </a:avLst>
          </a:prstGeom>
          <a:solidFill>
            <a:srgbClr val="3E3E3E"/>
          </a:solidFill>
          <a:ln/>
        </p:spPr>
      </p:sp>
      <p:sp>
        <p:nvSpPr>
          <p:cNvPr id="10" name="Text 8"/>
          <p:cNvSpPr/>
          <p:nvPr/>
        </p:nvSpPr>
        <p:spPr>
          <a:xfrm>
            <a:off x="4784601" y="2569741"/>
            <a:ext cx="37215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spc="-14" kern="0" dirty="0">
                <a:solidFill>
                  <a:srgbClr val="E0D6DE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BUSCARV / VLOOKUP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4784601" y="2876252"/>
            <a:ext cx="3721522" cy="101136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spcAft>
                <a:spcPts val="650"/>
              </a:spcAft>
              <a:buNone/>
            </a:pPr>
            <a:r>
              <a:rPr lang="en-US" sz="1100" b="1" spc="-22" kern="0" dirty="0">
                <a:solidFill>
                  <a:srgbClr val="E0D6DE"/>
                </a:solidFill>
                <a:latin typeface="Fira Sans Bold" pitchFamily="34" charset="0"/>
                <a:ea typeface="Fira Sans Bold" pitchFamily="34" charset="-122"/>
                <a:cs typeface="Fira Sans Bold" pitchFamily="34" charset="-120"/>
              </a:rPr>
              <a:t>Tradicional.</a:t>
            </a:r>
            <a:pPr algn="l" indent="0" marL="0">
              <a:lnSpc>
                <a:spcPct val="133000"/>
              </a:lnSpc>
              <a:spcAft>
                <a:spcPts val="650"/>
              </a:spcAft>
              <a:buNone/>
            </a:pPr>
            <a:r>
              <a:rPr lang="en-US" sz="1100" spc="-22" kern="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 Compatible con versiones antiguas, pero más rígida.</a:t>
            </a:r>
            <a:endParaRPr lang="en-US" sz="11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100" spc="-22" kern="0" dirty="0">
                <a:solidFill>
                  <a:srgbClr val="E0D6DE"/>
                </a:solidFill>
                <a:highlight>
                  <a:srgbClr val="2C2C2C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=BUSCARV(valor_buscado, matriz_tabla, n°_columna, FALSO)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52735"/>
            <a:ext cx="8151763" cy="3737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350" spc="-24" kern="0" dirty="0">
                <a:solidFill>
                  <a:srgbClr val="FA95AF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Ejemplo Práctico: BUSCARX en Acción</a:t>
            </a:r>
            <a:endParaRPr lang="en-US" sz="2350" dirty="0"/>
          </a:p>
        </p:txBody>
      </p:sp>
      <p:sp>
        <p:nvSpPr>
          <p:cNvPr id="3" name="Text 1"/>
          <p:cNvSpPr/>
          <p:nvPr/>
        </p:nvSpPr>
        <p:spPr>
          <a:xfrm>
            <a:off x="496119" y="1115169"/>
            <a:ext cx="2663354" cy="1868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spc="-12" kern="0" dirty="0">
                <a:solidFill>
                  <a:srgbClr val="FA95AF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Tabla: Ventas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496119" y="1415504"/>
            <a:ext cx="2663354" cy="2584103"/>
          </a:xfrm>
          <a:prstGeom prst="roundRect">
            <a:avLst>
              <a:gd name="adj" fmla="val 694"/>
            </a:avLst>
          </a:prstGeom>
          <a:noFill/>
          <a:ln w="4763">
            <a:solidFill>
              <a:srgbClr val="FFFFFF">
                <a:alpha val="24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96119" y="2082254"/>
            <a:ext cx="2663354" cy="7476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496119" y="3332857"/>
            <a:ext cx="2663354" cy="7476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620688" y="1485528"/>
            <a:ext cx="424235" cy="3527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900" b="1" spc="-19" kern="0" dirty="0">
                <a:solidFill>
                  <a:srgbClr val="E0D6DE"/>
                </a:solidFill>
                <a:latin typeface="Fira Sans Bold" pitchFamily="34" charset="0"/>
                <a:ea typeface="Fira Sans Bold" pitchFamily="34" charset="-122"/>
                <a:cs typeface="Fira Sans Bold" pitchFamily="34" charset="-120"/>
              </a:rPr>
              <a:t>id_venta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284089" y="1485528"/>
            <a:ext cx="424235" cy="3527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900" b="1" spc="-19" kern="0" dirty="0">
                <a:solidFill>
                  <a:srgbClr val="E0D6DE"/>
                </a:solidFill>
                <a:latin typeface="Fira Sans Bold" pitchFamily="34" charset="0"/>
                <a:ea typeface="Fira Sans Bold" pitchFamily="34" charset="-122"/>
                <a:cs typeface="Fira Sans Bold" pitchFamily="34" charset="-120"/>
              </a:rPr>
              <a:t>id_producto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947490" y="1485528"/>
            <a:ext cx="424235" cy="5290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900" b="1" spc="-19" kern="0" dirty="0">
                <a:solidFill>
                  <a:srgbClr val="E0D6DE"/>
                </a:solidFill>
                <a:latin typeface="Fira Sans Bold" pitchFamily="34" charset="0"/>
                <a:ea typeface="Fira Sans Bold" pitchFamily="34" charset="-122"/>
                <a:cs typeface="Fira Sans Bold" pitchFamily="34" charset="-120"/>
              </a:rPr>
              <a:t>nombre (fórmula)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2610892" y="1485528"/>
            <a:ext cx="424235" cy="5290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900" b="1" spc="-19" kern="0" dirty="0">
                <a:solidFill>
                  <a:srgbClr val="E0D6DE"/>
                </a:solidFill>
                <a:latin typeface="Fira Sans Bold" pitchFamily="34" charset="0"/>
                <a:ea typeface="Fira Sans Bold" pitchFamily="34" charset="-122"/>
                <a:cs typeface="Fira Sans Bold" pitchFamily="34" charset="-120"/>
              </a:rPr>
              <a:t>precio (fórmula)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620688" y="2149897"/>
            <a:ext cx="881435" cy="1763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900" spc="-19" kern="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V-101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284089" y="2149897"/>
            <a:ext cx="424235" cy="3527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900" spc="-19" kern="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PROD-02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947490" y="2149897"/>
            <a:ext cx="424235" cy="11153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900" spc="-19" kern="0" dirty="0">
                <a:solidFill>
                  <a:srgbClr val="E0D6DE"/>
                </a:solidFill>
                <a:highlight>
                  <a:srgbClr val="2C2C2C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=BUSCARX(B2,Productos!A:A,Productos!B:B)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2610892" y="2149897"/>
            <a:ext cx="424235" cy="11153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900" spc="-19" kern="0" dirty="0">
                <a:solidFill>
                  <a:srgbClr val="E0D6DE"/>
                </a:solidFill>
                <a:highlight>
                  <a:srgbClr val="2C2C2C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=BUSCARX(B2,Productos!A:A,Productos!D:D)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620688" y="3400499"/>
            <a:ext cx="881435" cy="1763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900" spc="-19" kern="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V-102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284089" y="3400499"/>
            <a:ext cx="424235" cy="3527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900" spc="-19" kern="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PROD-01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947490" y="3400499"/>
            <a:ext cx="424235" cy="5290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900" spc="-19" kern="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→ Laptop Pro 15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2610892" y="3400499"/>
            <a:ext cx="424235" cy="5290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900" spc="-19" kern="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→ $1.200,00</a:t>
            </a:r>
            <a:endParaRPr lang="en-US" sz="900" dirty="0"/>
          </a:p>
        </p:txBody>
      </p:sp>
      <p:pic>
        <p:nvPicPr>
          <p:cNvPr id="1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456087" y="1091357"/>
            <a:ext cx="5196483" cy="2944639"/>
          </a:xfrm>
          <a:prstGeom prst="rect">
            <a:avLst/>
          </a:prstGeom>
        </p:spPr>
      </p:pic>
      <p:sp>
        <p:nvSpPr>
          <p:cNvPr id="20" name="Shape 17"/>
          <p:cNvSpPr/>
          <p:nvPr/>
        </p:nvSpPr>
        <p:spPr>
          <a:xfrm>
            <a:off x="496119" y="4262958"/>
            <a:ext cx="8151763" cy="427732"/>
          </a:xfrm>
          <a:prstGeom prst="roundRect">
            <a:avLst>
              <a:gd name="adj" fmla="val 4195"/>
            </a:avLst>
          </a:prstGeom>
          <a:solidFill>
            <a:srgbClr val="7A0622"/>
          </a:solidFill>
          <a:ln/>
        </p:spPr>
      </p:sp>
      <p:pic>
        <p:nvPicPr>
          <p:cNvPr id="2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5702" y="4408066"/>
            <a:ext cx="149498" cy="119583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884783" y="4393704"/>
            <a:ext cx="8100715" cy="1763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900" spc="-19" kern="0" dirty="0">
                <a:solidFill>
                  <a:srgbClr val="FFFFFF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B2 contiene el </a:t>
            </a:r>
            <a:pPr algn="l" indent="0" marL="0">
              <a:lnSpc>
                <a:spcPct val="123000"/>
              </a:lnSpc>
              <a:buNone/>
            </a:pPr>
            <a:r>
              <a:rPr lang="en-US" sz="900" b="1" spc="-19" kern="0" dirty="0">
                <a:solidFill>
                  <a:srgbClr val="FFFFFF"/>
                </a:solidFill>
                <a:latin typeface="Fira Sans Bold" pitchFamily="34" charset="0"/>
                <a:ea typeface="Fira Sans Bold" pitchFamily="34" charset="-122"/>
                <a:cs typeface="Fira Sans Bold" pitchFamily="34" charset="-120"/>
              </a:rPr>
              <a:t>id_producto</a:t>
            </a:r>
            <a:pPr algn="l" indent="0" marL="0">
              <a:lnSpc>
                <a:spcPct val="123000"/>
              </a:lnSpc>
              <a:buNone/>
            </a:pPr>
            <a:r>
              <a:rPr lang="en-US" sz="900" spc="-19" kern="0" dirty="0">
                <a:solidFill>
                  <a:srgbClr val="FFFFFF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. La fórmula busca ese valor en la columna A de </a:t>
            </a:r>
            <a:pPr algn="l" indent="0" marL="0">
              <a:lnSpc>
                <a:spcPct val="123000"/>
              </a:lnSpc>
              <a:buNone/>
            </a:pPr>
            <a:r>
              <a:rPr lang="en-US" sz="900" i="1" spc="-19" kern="0" dirty="0">
                <a:solidFill>
                  <a:srgbClr val="FFFFFF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Productos</a:t>
            </a:r>
            <a:pPr algn="l" indent="0" marL="0">
              <a:lnSpc>
                <a:spcPct val="123000"/>
              </a:lnSpc>
              <a:buNone/>
            </a:pPr>
            <a:r>
              <a:rPr lang="en-US" sz="900" spc="-19" kern="0" dirty="0">
                <a:solidFill>
                  <a:srgbClr val="FFFFFF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 y devuelve el nombre o el precio correspondiente.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96119" y="433685"/>
            <a:ext cx="1166589" cy="188565"/>
          </a:xfrm>
          <a:prstGeom prst="roundRect">
            <a:avLst>
              <a:gd name="adj" fmla="val 7894"/>
            </a:avLst>
          </a:prstGeom>
          <a:solidFill>
            <a:srgbClr val="490315"/>
          </a:solidFill>
          <a:ln/>
        </p:spPr>
      </p:sp>
      <p:sp>
        <p:nvSpPr>
          <p:cNvPr id="4" name="Text 1"/>
          <p:cNvSpPr/>
          <p:nvPr/>
        </p:nvSpPr>
        <p:spPr>
          <a:xfrm>
            <a:off x="570533" y="470892"/>
            <a:ext cx="1474961" cy="1141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750" spc="-20" kern="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ANÁLISIS CONSOLIDADO</a:t>
            </a:r>
            <a:endParaRPr lang="en-US" sz="750" dirty="0"/>
          </a:p>
        </p:txBody>
      </p:sp>
      <p:sp>
        <p:nvSpPr>
          <p:cNvPr id="5" name="Text 2"/>
          <p:cNvSpPr/>
          <p:nvPr/>
        </p:nvSpPr>
        <p:spPr>
          <a:xfrm>
            <a:off x="496119" y="665634"/>
            <a:ext cx="4722763" cy="7750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400" spc="-24" kern="0" dirty="0">
                <a:solidFill>
                  <a:srgbClr val="FA95AF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Tablas Dinámicas: Resumir Miles de Filas en Segundos</a:t>
            </a:r>
            <a:endParaRPr lang="en-US" sz="24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96119" y="1603474"/>
            <a:ext cx="310083" cy="310083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96119" y="2049214"/>
            <a:ext cx="4722763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spc="-12" kern="0" dirty="0">
                <a:solidFill>
                  <a:srgbClr val="E0D6DE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Resumen instantáneo</a:t>
            </a:r>
            <a:endParaRPr lang="en-US" sz="1200" dirty="0"/>
          </a:p>
        </p:txBody>
      </p:sp>
      <p:sp>
        <p:nvSpPr>
          <p:cNvPr id="8" name="Text 4"/>
          <p:cNvSpPr/>
          <p:nvPr/>
        </p:nvSpPr>
        <p:spPr>
          <a:xfrm>
            <a:off x="496119" y="2308175"/>
            <a:ext cx="4722763" cy="1860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50" spc="-20" kern="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Agrupa ventas por cliente, producto o período sin escribir una sola fórmula.</a:t>
            </a:r>
            <a:endParaRPr lang="en-US" sz="95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96119" y="2711276"/>
            <a:ext cx="310083" cy="310083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496119" y="3157017"/>
            <a:ext cx="4722763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spc="-12" kern="0" dirty="0">
                <a:solidFill>
                  <a:srgbClr val="E0D6DE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Modelo de Datos en Excel</a:t>
            </a:r>
            <a:endParaRPr lang="en-US" sz="1200" dirty="0"/>
          </a:p>
        </p:txBody>
      </p:sp>
      <p:sp>
        <p:nvSpPr>
          <p:cNvPr id="11" name="Text 6"/>
          <p:cNvSpPr/>
          <p:nvPr/>
        </p:nvSpPr>
        <p:spPr>
          <a:xfrm>
            <a:off x="496119" y="3415978"/>
            <a:ext cx="4722763" cy="1860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50" spc="-20" kern="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Permite crear relaciones internas entre tablas </a:t>
            </a:r>
            <a:pPr algn="l" indent="0" marL="0">
              <a:lnSpc>
                <a:spcPct val="125000"/>
              </a:lnSpc>
              <a:buNone/>
            </a:pPr>
            <a:r>
              <a:rPr lang="en-US" sz="950" b="1" spc="-20" kern="0" dirty="0">
                <a:solidFill>
                  <a:srgbClr val="E0D6DE"/>
                </a:solidFill>
                <a:latin typeface="Fira Sans Bold" pitchFamily="34" charset="0"/>
                <a:ea typeface="Fira Sans Bold" pitchFamily="34" charset="-122"/>
                <a:cs typeface="Fira Sans Bold" pitchFamily="34" charset="-120"/>
              </a:rPr>
              <a:t>sin abusar de BUSCARV</a:t>
            </a:r>
            <a:pPr algn="l" indent="0" marL="0">
              <a:lnSpc>
                <a:spcPct val="125000"/>
              </a:lnSpc>
              <a:buNone/>
            </a:pPr>
            <a:r>
              <a:rPr lang="en-US" sz="950" spc="-20" kern="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.</a:t>
            </a:r>
            <a:endParaRPr lang="en-US" sz="95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96119" y="3819079"/>
            <a:ext cx="310083" cy="310083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496119" y="4264819"/>
            <a:ext cx="4722763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spc="-12" kern="0" dirty="0">
                <a:solidFill>
                  <a:srgbClr val="E0D6DE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Resultado inmediato</a:t>
            </a:r>
            <a:endParaRPr lang="en-US" sz="1200" dirty="0"/>
          </a:p>
        </p:txBody>
      </p:sp>
      <p:sp>
        <p:nvSpPr>
          <p:cNvPr id="14" name="Text 8"/>
          <p:cNvSpPr/>
          <p:nvPr/>
        </p:nvSpPr>
        <p:spPr>
          <a:xfrm>
            <a:off x="496119" y="4523780"/>
            <a:ext cx="4722763" cy="1860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50" spc="-20" kern="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Arrastra </a:t>
            </a:r>
            <a:pPr algn="l" indent="0" marL="0">
              <a:lnSpc>
                <a:spcPct val="125000"/>
              </a:lnSpc>
              <a:buNone/>
            </a:pPr>
            <a:r>
              <a:rPr lang="en-US" sz="950" i="1" spc="-20" kern="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nombre_producto</a:t>
            </a:r>
            <a:pPr algn="l" indent="0" marL="0">
              <a:lnSpc>
                <a:spcPct val="125000"/>
              </a:lnSpc>
              <a:buNone/>
            </a:pPr>
            <a:r>
              <a:rPr lang="en-US" sz="950" spc="-20" kern="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 a Filas y </a:t>
            </a:r>
            <a:pPr algn="l" indent="0" marL="0">
              <a:lnSpc>
                <a:spcPct val="125000"/>
              </a:lnSpc>
              <a:buNone/>
            </a:pPr>
            <a:r>
              <a:rPr lang="en-US" sz="950" i="1" spc="-20" kern="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monto</a:t>
            </a:r>
            <a:pPr algn="l" indent="0" marL="0">
              <a:lnSpc>
                <a:spcPct val="125000"/>
              </a:lnSpc>
              <a:buNone/>
            </a:pPr>
            <a:r>
              <a:rPr lang="en-US" sz="950" spc="-20" kern="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 a Valores para ver totales por producto.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6119" y="411584"/>
            <a:ext cx="816546" cy="131266"/>
          </a:xfrm>
          <a:prstGeom prst="roundRect">
            <a:avLst>
              <a:gd name="adj" fmla="val 7897"/>
            </a:avLst>
          </a:prstGeom>
          <a:solidFill>
            <a:srgbClr val="490315"/>
          </a:solidFill>
          <a:ln/>
        </p:spPr>
      </p:sp>
      <p:sp>
        <p:nvSpPr>
          <p:cNvPr id="3" name="Text 1"/>
          <p:cNvSpPr/>
          <p:nvPr/>
        </p:nvSpPr>
        <p:spPr>
          <a:xfrm>
            <a:off x="547911" y="437480"/>
            <a:ext cx="1170161" cy="794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500" spc="-14" kern="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RESUMEN DE LA CLASE 2</a:t>
            </a:r>
            <a:endParaRPr lang="en-US" sz="500" dirty="0"/>
          </a:p>
        </p:txBody>
      </p:sp>
      <p:sp>
        <p:nvSpPr>
          <p:cNvPr id="4" name="Text 2"/>
          <p:cNvSpPr/>
          <p:nvPr/>
        </p:nvSpPr>
        <p:spPr>
          <a:xfrm>
            <a:off x="496119" y="563835"/>
            <a:ext cx="8151763" cy="269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00" spc="-17" kern="0" dirty="0">
                <a:solidFill>
                  <a:srgbClr val="FA95AF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Lo que Aprendimos Hoy</a:t>
            </a:r>
            <a:endParaRPr lang="en-US" sz="17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02407" y="912688"/>
            <a:ext cx="6339185" cy="2901255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256361" y="3124987"/>
            <a:ext cx="1190142" cy="2292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400" spc="-14" kern="0" dirty="0">
                <a:solidFill>
                  <a:srgbClr val="E0D6DE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Análisis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4756456" y="3124987"/>
            <a:ext cx="1190143" cy="2292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400" spc="-14" kern="0" dirty="0">
                <a:solidFill>
                  <a:srgbClr val="E0D6DE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Búsqueda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3264702" y="3124987"/>
            <a:ext cx="1190142" cy="2292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400" spc="-14" kern="0" dirty="0">
                <a:solidFill>
                  <a:srgbClr val="E0D6DE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Validación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1740341" y="3124987"/>
            <a:ext cx="1190142" cy="2292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400" spc="-14" kern="0" dirty="0">
                <a:solidFill>
                  <a:srgbClr val="E0D6DE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Estructura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496119" y="3873103"/>
            <a:ext cx="8608963" cy="1111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650" spc="-14" kern="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Estos cuatro pilares te permiten simular un sistema relacional completo dentro de una hoja de cálculo, manteniendo la integridad y facilitando el análisis.</a:t>
            </a:r>
            <a:endParaRPr lang="en-US" sz="650" dirty="0"/>
          </a:p>
        </p:txBody>
      </p:sp>
      <p:sp>
        <p:nvSpPr>
          <p:cNvPr id="11" name="Text 8"/>
          <p:cNvSpPr/>
          <p:nvPr/>
        </p:nvSpPr>
        <p:spPr>
          <a:xfrm>
            <a:off x="496119" y="4086597"/>
            <a:ext cx="2673400" cy="2850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2200" spc="-22" kern="0" dirty="0">
                <a:solidFill>
                  <a:srgbClr val="E0D6DE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3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496119" y="4454277"/>
            <a:ext cx="2673400" cy="1349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850" spc="-9" kern="0" dirty="0">
                <a:solidFill>
                  <a:srgbClr val="E0D6DE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Reglas de estructura</a:t>
            </a:r>
            <a:endParaRPr lang="en-US" sz="850" dirty="0"/>
          </a:p>
        </p:txBody>
      </p:sp>
      <p:sp>
        <p:nvSpPr>
          <p:cNvPr id="13" name="Text 10"/>
          <p:cNvSpPr/>
          <p:nvPr/>
        </p:nvSpPr>
        <p:spPr>
          <a:xfrm>
            <a:off x="496119" y="4620741"/>
            <a:ext cx="2673400" cy="1111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7000"/>
              </a:lnSpc>
              <a:buNone/>
            </a:pPr>
            <a:r>
              <a:rPr lang="en-US" sz="650" spc="-14" kern="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Para diseñar tablas limpias y consistentes.</a:t>
            </a:r>
            <a:endParaRPr lang="en-US" sz="650" dirty="0"/>
          </a:p>
        </p:txBody>
      </p:sp>
      <p:sp>
        <p:nvSpPr>
          <p:cNvPr id="14" name="Text 11"/>
          <p:cNvSpPr/>
          <p:nvPr/>
        </p:nvSpPr>
        <p:spPr>
          <a:xfrm>
            <a:off x="3235300" y="4086597"/>
            <a:ext cx="2673400" cy="2850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2200" spc="-22" kern="0" dirty="0">
                <a:solidFill>
                  <a:srgbClr val="E0D6DE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2</a:t>
            </a:r>
            <a:endParaRPr lang="en-US" sz="2200" dirty="0"/>
          </a:p>
        </p:txBody>
      </p:sp>
      <p:sp>
        <p:nvSpPr>
          <p:cNvPr id="15" name="Text 12"/>
          <p:cNvSpPr/>
          <p:nvPr/>
        </p:nvSpPr>
        <p:spPr>
          <a:xfrm>
            <a:off x="3235300" y="4454277"/>
            <a:ext cx="2673400" cy="1349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850" spc="-9" kern="0" dirty="0">
                <a:solidFill>
                  <a:srgbClr val="E0D6DE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Funciones de búsqueda</a:t>
            </a:r>
            <a:endParaRPr lang="en-US" sz="850" dirty="0"/>
          </a:p>
        </p:txBody>
      </p:sp>
      <p:sp>
        <p:nvSpPr>
          <p:cNvPr id="16" name="Text 13"/>
          <p:cNvSpPr/>
          <p:nvPr/>
        </p:nvSpPr>
        <p:spPr>
          <a:xfrm>
            <a:off x="3235300" y="4620741"/>
            <a:ext cx="2673400" cy="1111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7000"/>
              </a:lnSpc>
              <a:buNone/>
            </a:pPr>
            <a:r>
              <a:rPr lang="en-US" sz="650" spc="-14" kern="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BUSCARX (moderna) y BUSCARV (tradicional).</a:t>
            </a:r>
            <a:endParaRPr lang="en-US" sz="650" dirty="0"/>
          </a:p>
        </p:txBody>
      </p:sp>
      <p:sp>
        <p:nvSpPr>
          <p:cNvPr id="17" name="Text 14"/>
          <p:cNvSpPr/>
          <p:nvPr/>
        </p:nvSpPr>
        <p:spPr>
          <a:xfrm>
            <a:off x="5974482" y="4086597"/>
            <a:ext cx="2673400" cy="2850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2200" spc="-22" kern="0" dirty="0">
                <a:solidFill>
                  <a:srgbClr val="E0D6DE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1</a:t>
            </a:r>
            <a:endParaRPr lang="en-US" sz="2200" dirty="0"/>
          </a:p>
        </p:txBody>
      </p:sp>
      <p:sp>
        <p:nvSpPr>
          <p:cNvPr id="18" name="Text 15"/>
          <p:cNvSpPr/>
          <p:nvPr/>
        </p:nvSpPr>
        <p:spPr>
          <a:xfrm>
            <a:off x="5974482" y="4454277"/>
            <a:ext cx="2673400" cy="1349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850" spc="-9" kern="0" dirty="0">
                <a:solidFill>
                  <a:srgbClr val="E0D6DE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Modelo de datos</a:t>
            </a:r>
            <a:endParaRPr lang="en-US" sz="850" dirty="0"/>
          </a:p>
        </p:txBody>
      </p:sp>
      <p:sp>
        <p:nvSpPr>
          <p:cNvPr id="19" name="Text 16"/>
          <p:cNvSpPr/>
          <p:nvPr/>
        </p:nvSpPr>
        <p:spPr>
          <a:xfrm>
            <a:off x="5974482" y="4620741"/>
            <a:ext cx="2673400" cy="1111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7000"/>
              </a:lnSpc>
              <a:buNone/>
            </a:pPr>
            <a:r>
              <a:rPr lang="en-US" sz="650" spc="-14" kern="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Relaciones internas sin fórmulas complejas.</a:t>
            </a:r>
            <a:endParaRPr lang="en-US" sz="6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2026-08-16T20:08:54Z</dcterms:created>
  <dcterms:modified xsi:type="dcterms:W3CDTF">2026-08-16T20:08:54Z</dcterms:modified>
</cp:coreProperties>
</file>