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Alexandria"/>
      <p:regular r:id="rId201314"/>
    </p:embeddedFont>
    <p:embeddedFont>
      <p:font typeface="Alexandria Medium"/>
      <p:regular r:id="rId201315"/>
    </p:embeddedFont>
    <p:embeddedFont>
      <p:font typeface="Alexandria Bold"/>
      <p:regular r:id="rId201316"/>
    </p:embeddedFont>
    <p:embeddedFont>
      <p:font typeface="Manrope"/>
      <p:regular r:id="rId201317"/>
    </p:embeddedFont>
    <p:embeddedFont>
      <p:font typeface="Manrope Medium"/>
      <p:regular r:id="rId201318"/>
    </p:embeddedFont>
    <p:embeddedFont>
      <p:font typeface="Manrope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7-6.png"/><Relationship Id="rId3" Type="http://schemas.openxmlformats.org/officeDocument/2006/relationships/image" Target="../media/image-7-7.svg"/><Relationship Id="rId4" Type="http://schemas.openxmlformats.org/officeDocument/2006/relationships/image" Target="../media/image-7-6.png"/><Relationship Id="rId5" Type="http://schemas.openxmlformats.org/officeDocument/2006/relationships/image" Target="../media/image-7-7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438126"/>
            <a:ext cx="1035546" cy="215354"/>
          </a:xfrm>
          <a:prstGeom prst="roundRect">
            <a:avLst>
              <a:gd name="adj" fmla="val 50000"/>
            </a:avLst>
          </a:prstGeom>
          <a:solidFill>
            <a:srgbClr val="CDEFFE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1480617"/>
            <a:ext cx="132263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TEMA 1 · CLASE 3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1710184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Hojas de Cálculo vs. Sistemas de Gestión de Bases de Datos (SGBD)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325174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¿Cuándo Excel ya no es suficiente? Definición de SGBD, análisis comparativo, ventajas, desventajas y matriz de decisión empresarial.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3771"/>
            <a:ext cx="1166813" cy="158055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552" y="434950"/>
            <a:ext cx="1499146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CONCEPTO FUNDAMENTAL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592336"/>
            <a:ext cx="8151763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spc="-20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¿Qué es un SGBD?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18295"/>
            <a:ext cx="5209729" cy="29521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64510" y="2305496"/>
            <a:ext cx="2688059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 </a:t>
            </a:r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Sistema de Gestión de Bases de Datos (SGBD)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es un software especializado diseñado para almacenar, gestionar, consultar y proteger datos de forma eficiente y segura.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112" y="4245583"/>
            <a:ext cx="156121" cy="1561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4405" y="4242346"/>
            <a:ext cx="2315245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spc="-10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Integridad de datos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834405" y="4450854"/>
            <a:ext cx="2315245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Reglas estrictas que previenen inconsistencias.</a:t>
            </a:r>
            <a:endParaRPr lang="en-US" sz="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84190" y="4245583"/>
            <a:ext cx="156121" cy="1561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583484" y="4242346"/>
            <a:ext cx="2315245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spc="-10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Acceso concurrente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3583484" y="4450854"/>
            <a:ext cx="2315245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Miles de usuarios operando en paralelo sin conflictos.</a:t>
            </a:r>
            <a:endParaRPr lang="en-US" sz="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33269" y="4245583"/>
            <a:ext cx="156121" cy="15612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32562" y="4242346"/>
            <a:ext cx="2315245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spc="-10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Consultas con SQL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6332562" y="4450854"/>
            <a:ext cx="2315245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Lenguaje optimizado para búsquedas complejas.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1361"/>
            <a:ext cx="720551" cy="154707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7213" y="441871"/>
            <a:ext cx="1055563" cy="93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ARQUITECTURA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595313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spc="-20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¿Cómo funciona un SGBD?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679" y="1023491"/>
            <a:ext cx="8084567" cy="3486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3714" y="3848597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Disco / Archivos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3041592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SGBD (PostgreSQL)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3714" y="2242739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Lenguaje SQL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73714" y="1435734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Usuario / App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6119" y="4592092"/>
            <a:ext cx="86089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 SGBD actúa como intermediario inteligente entre la aplicación y el almacenamiento físico, traduciendo consultas SQL en operaciones seguras y optimizadas sobre los datos.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51917"/>
            <a:ext cx="925860" cy="215354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494407"/>
            <a:ext cx="121294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COMPARATIVA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2397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Tabla Comparativa: Excel vs. SGBD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37956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Análisis de los factores críticos que determinan qué herramienta elegir según el contexto del proyecto.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1765846"/>
            <a:ext cx="8151763" cy="2925663"/>
          </a:xfrm>
          <a:prstGeom prst="roundRect">
            <a:avLst>
              <a:gd name="adj" fmla="val 726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6119" y="2179439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2590651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228677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96119" y="3866704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96119" y="4277916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292176" y="1765846"/>
            <a:ext cx="8860" cy="29256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467648" y="1765846"/>
            <a:ext cx="8860" cy="292566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2714" y="1860426"/>
            <a:ext cx="1962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Criterio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36316" y="1860426"/>
            <a:ext cx="33443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Hoja de Cálculo (Excel / Sheets)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11788" y="1860426"/>
            <a:ext cx="33467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SGBD (PostgreSQL / MySQL)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2714" y="2271638"/>
            <a:ext cx="1962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Capacidad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36316" y="2271638"/>
            <a:ext cx="33443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Cientos de miles / ~1 millón de filas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11788" y="2271638"/>
            <a:ext cx="33467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Cientos de millones de registros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2714" y="2682850"/>
            <a:ext cx="1962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Concurrencia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36316" y="2682850"/>
            <a:ext cx="288719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Bloqueos frecuentes, edición colaborativa limitada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11788" y="2682850"/>
            <a:ext cx="33467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Miles de usuarios escribiendo en paralelo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2714" y="3320876"/>
            <a:ext cx="1962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Seguridad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36316" y="3320876"/>
            <a:ext cx="33443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Por archivo o contraseña simple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11788" y="3320876"/>
            <a:ext cx="28895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Permisos detallados por tabla, columna o fila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2714" y="3958903"/>
            <a:ext cx="1962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Integridad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36316" y="3958903"/>
            <a:ext cx="33443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Vulnerable a borrados y ediciones manuales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11788" y="3958903"/>
            <a:ext cx="33467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Reglas estrictas (ACID / Constraints)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2714" y="4370115"/>
            <a:ext cx="1962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Consultas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36316" y="4370115"/>
            <a:ext cx="33443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Filtros manuales y fórmulas complejas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11788" y="4370115"/>
            <a:ext cx="334677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Lenguaje SQL rápido y optimizado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52562"/>
            <a:ext cx="1115095" cy="215354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895052"/>
            <a:ext cx="140218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PROFUNDIZACIÓN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12462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Capacidad y Concurrencia: La Gran Diferencia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326704"/>
            <a:ext cx="2551807" cy="14176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9701" y="1921966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¿Por qué importa?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2285181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Una hoja de cálculo comienza a fallar de forma silenciosa: lentitud, bloqueos y riesgo de corrupción. Un SGBD está diseñado para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escalar sin degradarse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garantizando disponibilidad incluso bajo alta demanda.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49701" y="3351907"/>
            <a:ext cx="3902943" cy="779562"/>
          </a:xfrm>
          <a:prstGeom prst="roundRect">
            <a:avLst>
              <a:gd name="adj" fmla="val 27278"/>
            </a:avLst>
          </a:prstGeom>
          <a:solidFill>
            <a:srgbClr val="CDEFF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571726"/>
            <a:ext cx="177180" cy="1417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0398" y="3514874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Regla práctica: si tu archivo supera los 500.000 registros, es momento de evaluar un SGBD.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57560"/>
            <a:ext cx="1522661" cy="215354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1000051"/>
            <a:ext cx="180975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SEGURIDAD E INTEGRIDAD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2961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Protección de Datos: No es Opcional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885206"/>
            <a:ext cx="2622724" cy="2300660"/>
          </a:xfrm>
          <a:prstGeom prst="roundRect">
            <a:avLst>
              <a:gd name="adj" fmla="val 924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2640" y="2031727"/>
            <a:ext cx="425276" cy="425276"/>
          </a:xfrm>
          <a:prstGeom prst="ellipse">
            <a:avLst/>
          </a:prstGeom>
          <a:solidFill>
            <a:srgbClr val="D4CC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619" y="2148632"/>
            <a:ext cx="191319" cy="1913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2640" y="2598762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Seguridad Granular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2640" y="2905274"/>
            <a:ext cx="23296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 un SGBD puedes definir quién ve o edita cada tabla, columna o fila. En Excel, la protección es por archivo y fácilmente vulnerable.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60601" y="1885206"/>
            <a:ext cx="2622724" cy="2300660"/>
          </a:xfrm>
          <a:prstGeom prst="roundRect">
            <a:avLst>
              <a:gd name="adj" fmla="val 924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07122" y="2031727"/>
            <a:ext cx="425276" cy="425276"/>
          </a:xfrm>
          <a:prstGeom prst="ellipse">
            <a:avLst/>
          </a:prstGeom>
          <a:solidFill>
            <a:srgbClr val="D4CC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4101" y="2148632"/>
            <a:ext cx="191319" cy="19131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07122" y="2598762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Integridad ACID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407122" y="2905274"/>
            <a:ext cx="2329681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Las transacciones ACID garantizan que los datos sean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Atómicos, Consistentes, Aislados y Duraderos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Un error no corrompe toda la base.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25083" y="1885206"/>
            <a:ext cx="2622724" cy="2300660"/>
          </a:xfrm>
          <a:prstGeom prst="roundRect">
            <a:avLst>
              <a:gd name="adj" fmla="val 924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71605" y="2031727"/>
            <a:ext cx="425276" cy="425276"/>
          </a:xfrm>
          <a:prstGeom prst="ellipse">
            <a:avLst/>
          </a:prstGeom>
          <a:solidFill>
            <a:srgbClr val="D4CCF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8584" y="2148632"/>
            <a:ext cx="191319" cy="19131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71605" y="2598762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Auditoría y Trazabilidad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171605" y="2905274"/>
            <a:ext cx="23296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Los SGBD permiten registrar quién modificó cada dato y cuándo. Fundamental para cumplimiento normativo y diagnóstico de errores.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392534"/>
            <a:ext cx="932408" cy="212006"/>
          </a:xfrm>
          <a:prstGeom prst="roundRect">
            <a:avLst>
              <a:gd name="adj" fmla="val 50000"/>
            </a:avLst>
          </a:prstGeom>
          <a:solidFill>
            <a:srgbClr val="CDEFFE"/>
          </a:solidFill>
          <a:ln/>
        </p:spPr>
      </p:sp>
      <p:sp>
        <p:nvSpPr>
          <p:cNvPr id="4" name="Text 1"/>
          <p:cNvSpPr/>
          <p:nvPr/>
        </p:nvSpPr>
        <p:spPr>
          <a:xfrm>
            <a:off x="4008834" y="434355"/>
            <a:ext cx="1222177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CUÁNDO USAR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659457"/>
            <a:ext cx="4722763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spc="-2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Usa Hoja de Cálculo Cuando…</a:t>
            </a:r>
            <a:endParaRPr lang="en-US" sz="2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737643"/>
            <a:ext cx="4722763" cy="8390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59895" y="1896219"/>
            <a:ext cx="432941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Volumen bajo o moderado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159895" y="2196629"/>
            <a:ext cx="43294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Menos de 500.000 filas, sin riesgo de saturación del archivo.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714030"/>
            <a:ext cx="4722763" cy="8390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59895" y="2872606"/>
            <a:ext cx="432941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Análisis ad-hoc y prototipos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159895" y="3173016"/>
            <a:ext cx="43294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Gráficos rápidos, exploración de datos o modelos temporales.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690417"/>
            <a:ext cx="4722763" cy="10604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159895" y="3848993"/>
            <a:ext cx="432941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Equipos pequeños sin automatización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159895" y="4149403"/>
            <a:ext cx="432941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Trabajo colaborativo básico sin necesidad de integración técnica compleja.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491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389855"/>
            <a:ext cx="932408" cy="212006"/>
          </a:xfrm>
          <a:prstGeom prst="roundRect">
            <a:avLst>
              <a:gd name="adj" fmla="val 50000"/>
            </a:avLst>
          </a:prstGeom>
          <a:solidFill>
            <a:srgbClr val="CDEFFE"/>
          </a:solidFill>
          <a:ln/>
        </p:spPr>
      </p:sp>
      <p:sp>
        <p:nvSpPr>
          <p:cNvPr id="4" name="Text 1"/>
          <p:cNvSpPr/>
          <p:nvPr/>
        </p:nvSpPr>
        <p:spPr>
          <a:xfrm>
            <a:off x="579834" y="431676"/>
            <a:ext cx="1222177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CUÁNDO USAR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656779"/>
            <a:ext cx="4722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spc="-2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Usa un SGBD Cuando…</a:t>
            </a:r>
            <a:endParaRPr lang="en-US" sz="2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298897"/>
            <a:ext cx="4722763" cy="10604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0895" y="1457474"/>
            <a:ext cx="432941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Aplicaciones web, móviles o sistemas contables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30895" y="1757883"/>
            <a:ext cx="432941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Cualquier sistema que requiera persistencia, escalabilidad y acceso programático.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496741"/>
            <a:ext cx="4722763" cy="10604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0895" y="2655317"/>
            <a:ext cx="432941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Necesitas auditar cambios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30895" y="2955727"/>
            <a:ext cx="432941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Registrar quién modificó cada dato y cuándo es crítico para negocios regulados.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694584"/>
            <a:ext cx="4722763" cy="10604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0895" y="3853160"/>
            <a:ext cx="432941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La pérdida de datos pone en riesgo el negocio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30895" y="4153570"/>
            <a:ext cx="432941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Transacciones financieras, datos de clientes o inventarios críticos exigen integridad garantizada.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94705"/>
            <a:ext cx="960090" cy="215354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1137196"/>
            <a:ext cx="124718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CASOS REALES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36676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Dos Escenarios, Dos Decisiones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394022" y="2022351"/>
            <a:ext cx="4107135" cy="2026444"/>
          </a:xfrm>
          <a:prstGeom prst="roundRect">
            <a:avLst>
              <a:gd name="adj" fmla="val 16790"/>
            </a:avLst>
          </a:prstGeom>
          <a:solidFill>
            <a:srgbClr val="AAE4FE"/>
          </a:solidFill>
          <a:ln/>
        </p:spPr>
      </p:sp>
      <p:sp>
        <p:nvSpPr>
          <p:cNvPr id="6" name="Text 4"/>
          <p:cNvSpPr/>
          <p:nvPr/>
        </p:nvSpPr>
        <p:spPr>
          <a:xfrm>
            <a:off x="535781" y="2164110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🛒</a:t>
            </a:r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Caso A — Artesano Local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5781" y="2527325"/>
            <a:ext cx="3823618" cy="1393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Controlar el inventario personal de productos y pedidos.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Decisión: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Excel / Google Sheets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✔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Volumen bajo, un solo usuario, análisis rápido. La complejidad de un SGBD sería innecesaria.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216411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💳</a:t>
            </a:r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Caso B — E-Commerce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49701" y="2527325"/>
            <a:ext cx="3902943" cy="1393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Procesar transacciones bancarias y compras en tiempo real.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Decisión: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SGBD (PostgreSQL / MySQL)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✔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Alta concurrencia, integridad crítica, auditoría obligatoria. Una hoja de cálculo sería un riesgo operativo grave.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018208"/>
            <a:ext cx="986954" cy="215354"/>
          </a:xfrm>
          <a:prstGeom prst="roundRect">
            <a:avLst>
              <a:gd name="adj" fmla="val 50000"/>
            </a:avLst>
          </a:prstGeom>
          <a:solidFill>
            <a:srgbClr val="CDEFFE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1060698"/>
            <a:ext cx="127404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CIERRE · TEMA 1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129026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8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Conclusión y Reflexión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137720" y="2105323"/>
            <a:ext cx="451016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Las hojas de cálculo son excelentes para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analizar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datos; los SGBD son indispensables para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operar y escalar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sistemas.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925119" y="1945853"/>
            <a:ext cx="19050" cy="772567"/>
          </a:xfrm>
          <a:prstGeom prst="roundRect">
            <a:avLst>
              <a:gd name="adj" fmla="val 50000"/>
            </a:avLst>
          </a:prstGeom>
          <a:solidFill>
            <a:srgbClr val="AAE4FE"/>
          </a:solidFill>
          <a:ln/>
        </p:spPr>
      </p:sp>
      <p:sp>
        <p:nvSpPr>
          <p:cNvPr id="8" name="Shape 5"/>
          <p:cNvSpPr/>
          <p:nvPr/>
        </p:nvSpPr>
        <p:spPr>
          <a:xfrm>
            <a:off x="3925119" y="2877889"/>
            <a:ext cx="4722763" cy="1247403"/>
          </a:xfrm>
          <a:prstGeom prst="roundRect">
            <a:avLst>
              <a:gd name="adj" fmla="val 17048"/>
            </a:avLst>
          </a:prstGeom>
          <a:solidFill>
            <a:srgbClr val="D9D9D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877" y="3078659"/>
            <a:ext cx="177180" cy="1417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85816" y="3055069"/>
            <a:ext cx="412030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Pregunta de debate: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Imagina que tu aplicación de entregas pasa de 10 a 50.000 pedidos diarios. ¿Qué problemas inmediatos experimentarías si mantuvieras toda la operación en Google Sheets?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2026-08-16T20:08:27Z</dcterms:created>
  <dcterms:modified xsi:type="dcterms:W3CDTF">2026-08-16T20:08:27Z</dcterms:modified>
</cp:coreProperties>
</file>